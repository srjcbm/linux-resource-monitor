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4d55d6ddba4650" /><Relationship Type="http://schemas.openxmlformats.org/officeDocument/2006/relationships/extended-properties" Target="/docProps/app.xml" Id="R7c8a7356013c4a34" /><Relationship Type="http://schemas.openxmlformats.org/officeDocument/2006/relationships/officeDocument" Target="/ppt/presentation.xml" Id="Ra25a13c0a9d840f5" /></Relationships>
</file>

<file path=ppt/presentation.xml><?xml version="1.0" encoding="utf-8"?>
<p:presentation xmlns:p="http://schemas.openxmlformats.org/presentationml/2006/main">
  <p:sldMasterIdLst>
    <p:sldMasterId xmlns:r="http://schemas.openxmlformats.org/officeDocument/2006/relationships" id="2147483648" r:id="R1a0345907c4c48cd"/>
  </p:sldMasterIdLst>
  <p:notesMasterIdLst>
    <p:notesMasterId xmlns:r="http://schemas.openxmlformats.org/officeDocument/2006/relationships" r:id="R557d376259f54d7d"/>
  </p:notesMasterIdLst>
  <p:sldIdLst>
    <p:sldId xmlns:r="http://schemas.openxmlformats.org/officeDocument/2006/relationships" id="256" r:id="Rc03fc878d13c469c"/>
    <p:sldId xmlns:r="http://schemas.openxmlformats.org/officeDocument/2006/relationships" id="257" r:id="R59b7a8807b384a7e"/>
    <p:sldId xmlns:r="http://schemas.openxmlformats.org/officeDocument/2006/relationships" id="258" r:id="R361ff6b7ac9e4570"/>
    <p:sldId xmlns:r="http://schemas.openxmlformats.org/officeDocument/2006/relationships" id="259" r:id="Red61f294eade4172"/>
    <p:sldId xmlns:r="http://schemas.openxmlformats.org/officeDocument/2006/relationships" id="260" r:id="R5281745a6735473a"/>
    <p:sldId xmlns:r="http://schemas.openxmlformats.org/officeDocument/2006/relationships" id="261" r:id="Rc838dc4b780f496d"/>
    <p:sldId xmlns:r="http://schemas.openxmlformats.org/officeDocument/2006/relationships" id="262" r:id="R79f18d41093742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68d0c4b12e4feb" /><Relationship Type="http://schemas.openxmlformats.org/officeDocument/2006/relationships/slideMaster" Target="/ppt/slideMasters/slideMaster1.xml" Id="R1a0345907c4c48cd" /><Relationship Type="http://schemas.openxmlformats.org/officeDocument/2006/relationships/notesMaster" Target="/ppt/notesMasters/notesMaster1.xml" Id="R557d376259f54d7d" /><Relationship Type="http://schemas.openxmlformats.org/officeDocument/2006/relationships/presProps" Target="/ppt/presProps.xml" Id="R303c5fb7b2e443b0" /><Relationship Type="http://schemas.openxmlformats.org/officeDocument/2006/relationships/tableStyles" Target="/ppt/tableStyles.xml" Id="R5d519d0bfd4e4b07" /><Relationship Type="http://schemas.openxmlformats.org/officeDocument/2006/relationships/slide" Target="/ppt/slides/slide1.xml" Id="Rc03fc878d13c469c" /><Relationship Type="http://schemas.openxmlformats.org/officeDocument/2006/relationships/slide" Target="/ppt/slides/slide2.xml" Id="R59b7a8807b384a7e" /><Relationship Type="http://schemas.openxmlformats.org/officeDocument/2006/relationships/slide" Target="/ppt/slides/slide3.xml" Id="R361ff6b7ac9e4570" /><Relationship Type="http://schemas.openxmlformats.org/officeDocument/2006/relationships/slide" Target="/ppt/slides/slide4.xml" Id="Red61f294eade4172" /><Relationship Type="http://schemas.openxmlformats.org/officeDocument/2006/relationships/slide" Target="/ppt/slides/slide5.xml" Id="R5281745a6735473a" /><Relationship Type="http://schemas.openxmlformats.org/officeDocument/2006/relationships/slide" Target="/ppt/slides/slide6.xml" Id="Rc838dc4b780f496d" /><Relationship Type="http://schemas.openxmlformats.org/officeDocument/2006/relationships/slide" Target="/ppt/slides/slide7.xml" Id="R79f18d41093742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9c04943dce40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9f4a71327124b86" /><Relationship Type="http://schemas.openxmlformats.org/officeDocument/2006/relationships/notesMaster" Target="/ppt/notesMasters/notesMaster1.xml" Id="R255e80a603c341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98cd5b7a8c4ffd" /><Relationship Type="http://schemas.openxmlformats.org/officeDocument/2006/relationships/notesMaster" Target="/ppt/notesMasters/notesMaster1.xml" Id="Rf9388aa80fb2412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962dd4a3304694" /><Relationship Type="http://schemas.openxmlformats.org/officeDocument/2006/relationships/notesMaster" Target="/ppt/notesMasters/notesMaster1.xml" Id="R3fdd327b99204e6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415fd467f3547a4" /><Relationship Type="http://schemas.openxmlformats.org/officeDocument/2006/relationships/notesMaster" Target="/ppt/notesMasters/notesMaster1.xml" Id="Rfa110e8b0e6e47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d1b56017850c40f3" /><Relationship Type="http://schemas.openxmlformats.org/officeDocument/2006/relationships/notesMaster" Target="/ppt/notesMasters/notesMaster1.xml" Id="R822bb6b95edd47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277711284f4183" /><Relationship Type="http://schemas.openxmlformats.org/officeDocument/2006/relationships/notesMaster" Target="/ppt/notesMasters/notesMaster1.xml" Id="R548d1effe5394b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fa8e8a8e804f43" /><Relationship Type="http://schemas.openxmlformats.org/officeDocument/2006/relationships/notesMaster" Target="/ppt/notesMasters/notesMaster1.xml" Id="Rba95291f907b401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Julio]</a:t>
            </a:r>
          </a:p>
          <a:p xmlns:a="http://schemas.openxmlformats.org/drawingml/2006/main">
            <a:r>
              <a:t>Buenos días con todos. Somos Julio Cesar Blacio Machuca y Ariel Jose Llumiquinga Ñacato, y vamos a presentar nuestro proyecto Linux Resource Monitor, desarrollado para la asignatura de Sistemas Operativos. La propuesta consiste en una aplicación de consola escrita en Python 3 que funciona sobre Linux y permite consultar el estado de los principales recursos del equipo. Además del monitoreo, el proyecto demuestra de forma explícita conceptos estudiados en clase, como hilos, creación de procesos con fork y comunicación mediante pipes. Finalmente, incorpora persistencia en SQLite para registrar capturas y administrarlas mediante operaciones CRUD. Durante la exposición explicaremos el problema que identificamos, la arquitectura utilizada, las tecnologías elegidas y las pruebas realizadas en WSL y en una máquina virtual Ubuntu.</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docs/Semana1_Analisis_Arquitectura_BD.md</a:t>
            </a:r>
          </a:p>
          <a:p xmlns:a="http://schemas.openxmlformats.org/drawingml/2006/main">
            <a:r>
              <a:t>- docs/evidencias/capturas/08_opcion_2_cpu.png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Julio]</a:t>
            </a:r>
          </a:p>
          <a:p xmlns:a="http://schemas.openxmlformats.org/drawingml/2006/main">
            <a:r>
              <a:t>Para comenzar, Linux ya proporciona una gran cantidad de información sobre su propio funcionamiento. El problema es que esos datos no se encuentran reunidos en un solo lugar ni tienen siempre el mismo formato. Por ejemplo, utilizamos cpuinfo para obtener el modelo del procesador y el número de procesadores lógicos. El porcentaje de uso de CPU no se obtiene de loadavg, sino que se calcula comparando dos lecturas de los contadores acumulados en proc stat. Para la memoria usamos meminfo y diferenciamos memoria libre de memoria disponible. Los contadores de red se leen desde proc net dev. También ejecutamos comandos nativos como df, ip y who para obtener sistemas de archivos, direcciones de red y sesiones conectadas. Por eso, el objetivo del programa es recopilar, validar y presentar estas fuentes de forma coherente, sin modificar la configuración del sistema y sin exigir privilegios administrativos.</a:t>
            </a:r>
          </a:p>
          <a:p xmlns:a="http://schemas.openxmlformats.org/drawingml/2006/main">
            <a:r>
              <a:t/>
            </a:r>
          </a:p>
          <a:p xmlns:a="http://schemas.openxmlformats.org/drawingml/2006/main">
            <a:r>
              <a:t>[Sources]</a:t>
            </a:r>
          </a:p>
          <a:p xmlns:a="http://schemas.openxmlformats.org/drawingml/2006/main">
            <a:r>
              <a:t>- docs/Semana1_Analisis_Arquitectura_BD.md</a:t>
            </a:r>
          </a:p>
          <a:p xmlns:a="http://schemas.openxmlformats.org/drawingml/2006/main">
            <a:r>
              <a:t>- model/cpu_model.py</a:t>
            </a:r>
          </a:p>
          <a:p xmlns:a="http://schemas.openxmlformats.org/drawingml/2006/main">
            <a:r>
              <a:t>- model/memoria_model.py</a:t>
            </a:r>
          </a:p>
          <a:p xmlns:a="http://schemas.openxmlformats.org/drawingml/2006/main">
            <a:r>
              <a:t>- model/red_model.py</a:t>
            </a:r>
          </a:p>
          <a:p xmlns:a="http://schemas.openxmlformats.org/drawingml/2006/main">
            <a:r>
              <a:t>- model/disco_model.py</a:t>
            </a:r>
          </a:p>
          <a:p xmlns:a="http://schemas.openxmlformats.org/drawingml/2006/main">
            <a:r>
              <a:t>- model/usuarios_model.py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Julio]</a:t>
            </a:r>
          </a:p>
          <a:p xmlns:a="http://schemas.openxmlformats.org/drawingml/2006/main">
            <a:r>
              <a:t>A partir de esa situación identificamos tres dificultades técnicas. La primera fue trabajar con fuentes heterogéneas, porque cada archivo o comando entrega campos, unidades y posibles errores diferentes. La segunda fue que el estado del sistema cambia constantemente. Mientras se construye una captura puede aparecer o desaparecer un proceso, aumentar el tráfico de una interfaz o cambiar el consumo de memoria. Por esta razón, los modelos deben tolerar condiciones esperadas sin cerrar toda la aplicación. La tercera dificultad fue mantener la consistencia del historial. Una captura representa un mismo instante lógico y debe incluir sus métricas relacionadas; no sería correcto guardar solamente una parte. La solución fue normalizar los datos en los modelos, consolidarlos en el controlador y realizar la persistencia completa dentro de una sola transacción SQLite. Con estas decisiones definidas, Ariel explicará cómo organizamos la arquitectura.</a:t>
            </a:r>
          </a:p>
          <a:p xmlns:a="http://schemas.openxmlformats.org/drawingml/2006/main">
            <a:r>
              <a:t/>
            </a:r>
          </a:p>
          <a:p xmlns:a="http://schemas.openxmlformats.org/drawingml/2006/main">
            <a:r>
              <a:t>[Sources]</a:t>
            </a:r>
          </a:p>
          <a:p xmlns:a="http://schemas.openxmlformats.org/drawingml/2006/main">
            <a:r>
              <a:t>- docs/Semana1_Analisis_Arquitectura_BD.md</a:t>
            </a:r>
          </a:p>
          <a:p xmlns:a="http://schemas.openxmlformats.org/drawingml/2006/main">
            <a:r>
              <a:t>- controller/monitor_controller.py</a:t>
            </a:r>
          </a:p>
          <a:p xmlns:a="http://schemas.openxmlformats.org/drawingml/2006/main">
            <a:r>
              <a:t>- model/repositorio.py</a:t>
            </a:r>
          </a:p>
          <a:p xmlns:a="http://schemas.openxmlformats.org/drawingml/2006/main">
            <a:r>
              <a:t>- database/esquema.sql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Ariel]</a:t>
            </a:r>
          </a:p>
          <a:p xmlns:a="http://schemas.openxmlformats.org/drawingml/2006/main">
            <a:r>
              <a:t>La aplicación se organizó siguiendo el patrón Modelo Vista Controlador. La Vista es responsable únicamente de presentar menús, tablas, unidades, mensajes de éxito o error y de recibir las opciones escritas por el usuario. La Vista no lee proc ni ejecuta consultas SQL. Los controladores coordinan el flujo: MonitorController reúne el estado general, CrudController administra el historial y ConcurrenciaController ejecuta la demostración de hilos y procesos. Los modelos se encargan de leer los archivos del sistema, ejecutar los comandos permitidos y convertir las salidas en estructuras de datos. Para la persistencia utilizamos un repositorio separado, de modo que solamente ese componente conoce SQLite. En concurrencia también respetamos restricciones importantes: las conexiones de SQLite no se comparten entre hilos ni procesos, los trabajadores terminan antes de ejecutar fork y el proceso padre utiliza waitpid para recoger al hijo. Esta separación facilita probar cada componente y evita mezclar lógica del sistema operativo con presentación o almacenamiento.</a:t>
            </a:r>
          </a:p>
          <a:p xmlns:a="http://schemas.openxmlformats.org/drawingml/2006/main">
            <a:r>
              <a:t/>
            </a:r>
          </a:p>
          <a:p xmlns:a="http://schemas.openxmlformats.org/drawingml/2006/main">
            <a:r>
              <a:t>[Sources]</a:t>
            </a:r>
          </a:p>
          <a:p xmlns:a="http://schemas.openxmlformats.org/drawingml/2006/main">
            <a:r>
              <a:t>- docs/evidencias/arquitectura_actual.png</a:t>
            </a:r>
          </a:p>
          <a:p xmlns:a="http://schemas.openxmlformats.org/drawingml/2006/main">
            <a:r>
              <a:t>- docs/Semana1_Analisis_Arquitectura_BD.md</a:t>
            </a:r>
          </a:p>
          <a:p xmlns:a="http://schemas.openxmlformats.org/drawingml/2006/main">
            <a:r>
              <a:t>- controller/monitor_controller.py</a:t>
            </a:r>
          </a:p>
          <a:p xmlns:a="http://schemas.openxmlformats.org/drawingml/2006/main">
            <a:r>
              <a:t>- controller/crud_controller.py</a:t>
            </a:r>
          </a:p>
          <a:p xmlns:a="http://schemas.openxmlformats.org/drawingml/2006/main">
            <a:r>
              <a:t>- controller/concurrencia_controller.py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Ariel]</a:t>
            </a:r>
          </a:p>
          <a:p xmlns:a="http://schemas.openxmlformats.org/drawingml/2006/main">
            <a:r>
              <a:t>En cuanto a tecnologías, la base del proyecto está formada por Python 3, Linux y SQLite. No incorporamos frameworks ni dependencias externas, porque la biblioteca estándar cubre las necesidades del trabajo. subprocess permite ejecutar comandos nativos mediante listas de argumentos, con tiempo límite y sin utilizar shell true. pathlib facilita el manejo de rutas. threading y os permiten crear los hilos, ejecutar fork, abrir el pipe y esperar al proceso hijo. El módulo sqlite3 implementa la persistencia y unittest automatiza las pruebas. También debemos diferenciar algunos conceptos: MVC corresponde a la arquitectura del programa; CRUD describe las operaciones disponibles sobre las capturas; y proc es una interfaz virtual ofrecida por el kernel. Para el control de versiones utilizamos Git y GitHub. El desarrollo y las pruebas se realizaron en WSL 2 con Ubuntu, y posteriormente se comprobó el flujo completo en una máquina virtual Ubuntu. Ahora Julio mostrará cómo se ve esta integración durante una ejecución real.</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docs/Semana1_Analisis_Arquitectura_BD.md</a:t>
            </a:r>
          </a:p>
          <a:p xmlns:a="http://schemas.openxmlformats.org/drawingml/2006/main">
            <a:r>
              <a:t>- controller/concurrencia_controller.py</a:t>
            </a:r>
          </a:p>
          <a:p xmlns:a="http://schemas.openxmlformats.org/drawingml/2006/main">
            <a:r>
              <a:t>- model/repositorio.py</a:t>
            </a:r>
          </a:p>
          <a:p xmlns:a="http://schemas.openxmlformats.org/drawingml/2006/main">
            <a:r>
              <a:t>- tests/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Julio]</a:t>
            </a:r>
          </a:p>
          <a:p xmlns:a="http://schemas.openxmlformats.org/drawingml/2006/main">
            <a:r>
              <a:t>Estas capturas corresponden a la ejecución del estado general en Ubuntu. En la primera sección observamos el modelo del procesador, la cantidad de procesadores lógicos, la frecuencia, las tres cargas promedio y el porcentaje actual de CPU calculado mediante dos muestras de proc stat. También se presentan memoria total, usada, libre y disponible, además de swap total y usada. La segunda evidencia muestra un registro independiente por cada punto de montaje, con capacidad, espacio utilizado, espacio disponible y porcentaje de uso. Debajo aparecen las interfaces de red con su dirección IP, bytes y paquetes recibidos y enviados. La tercera sección presenta los procesos con PID, nombre, estado y propietario, junto con los usuarios conectados. La duración de cada sesión no se almacena como un valor fijo, sino que se calcula comparando la hora actual con el inicio de sesión. Las etiquetas NORMAL, ADVERTENCIA o CRÍTICO complementan los valores sin depender únicamente de colores. Para finalizar, Ariel explicará las pruebas y los resultados obtenidos.</a:t>
            </a:r>
          </a:p>
          <a:p xmlns:a="http://schemas.openxmlformats.org/drawingml/2006/main">
            <a:r>
              <a:t/>
            </a:r>
          </a:p>
          <a:p xmlns:a="http://schemas.openxmlformats.org/drawingml/2006/main">
            <a:r>
              <a:t>[Sources]</a:t>
            </a:r>
          </a:p>
          <a:p xmlns:a="http://schemas.openxmlformats.org/drawingml/2006/main">
            <a:r>
              <a:t>- docs/evidencias/capturas/05_opcion_1_estado_general_cpu_memoria.png</a:t>
            </a:r>
          </a:p>
          <a:p xmlns:a="http://schemas.openxmlformats.org/drawingml/2006/main">
            <a:r>
              <a:t>- docs/evidencias/capturas/06_opcion_1_estado_general_disco_red.png</a:t>
            </a:r>
          </a:p>
          <a:p xmlns:a="http://schemas.openxmlformats.org/drawingml/2006/main">
            <a:r>
              <a:t>- docs/evidencias/capturas/07_opcion_1_estado_general_procesos_usuarios.png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 Ariel]</a:t>
            </a:r>
          </a:p>
          <a:p xmlns:a="http://schemas.openxmlformats.org/drawingml/2006/main">
            <a:r>
              <a:t>La validación se realizó en dos niveles. Primero ejecutamos la suite automatizada dentro de WSL 2 con Ubuntu. La ejecución actual completó setenta y una pruebas, sin fallos y sin pruebas omitidas, en cero punto setecientos cuarenta y siete segundos. Estas pruebas no dependen únicamente de los datos del computador: utilizan fixtures para comprobar los parsers, bases SQLite temporales para verificar el CRUD y casos específicos para transacciones, eliminación en cascada, errores controlados y concurrencia. En segundo lugar realizamos una validación funcional manual desde una clonación limpia en una máquina virtual Ubuntu. Recorrimos las opciones uno a nueve, comprobamos los seis módulos con datos reales, registramos capturas y verificamos que el historial se listara en orden ascendente. También actualizamos metadatos, eliminamos registros con confirmación y probamos el filtro por fecha. En la demostración de concurrencia se completaron seis hilos sin errores y se creó un proceso hijo mediante fork, con PID propio y estado de salida cero. En conclusión, el proyecto integra monitoreo, concurrencia y persistencia en una interfaz de consola funcional, mantiene la separación MVC y cumple los requisitos principales sin librerías externas ni privilegios administrativos. Muchas gracias por su atención.</a:t>
            </a:r>
          </a:p>
          <a:p xmlns:a="http://schemas.openxmlformats.org/drawingml/2006/main">
            <a:r>
              <a:t/>
            </a:r>
          </a:p>
          <a:p xmlns:a="http://schemas.openxmlformats.org/drawingml/2006/main">
            <a:r>
              <a:t>[Sources]</a:t>
            </a:r>
          </a:p>
          <a:p xmlns:a="http://schemas.openxmlformats.org/drawingml/2006/main">
            <a:r>
              <a:t>- Ejecución local del 27 de julio de 2026: wsl.exe -d Ubuntu -- bash -lc "python3 -m unittest discover -s tests"</a:t>
            </a:r>
          </a:p>
          <a:p xmlns:a="http://schemas.openxmlformats.org/drawingml/2006/main">
            <a:r>
              <a:t>- tests/</a:t>
            </a:r>
          </a:p>
          <a:p xmlns:a="http://schemas.openxmlformats.org/drawingml/2006/main">
            <a:r>
              <a:t>- docs/evidencias/capturas/15_opcion_8_crud_listado_actualizacion.png</a:t>
            </a:r>
          </a:p>
          <a:p xmlns:a="http://schemas.openxmlformats.org/drawingml/2006/main">
            <a:r>
              <a:t>- docs/evidencias/capturas/17_opcion_9_concurrencia_hilos_fork.png</a:t>
            </a:r>
          </a:p>
          <a:p xmlns:a="http://schemas.openxmlformats.org/drawingml/2006/main">
            <a:r>
              <a:t>- docs/articulo/monitor_recursos_linux_es.tex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8eb97adbc040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44fed86a76145f1" /><Relationship Type="http://schemas.openxmlformats.org/officeDocument/2006/relationships/slideLayout" Target="/ppt/slideLayouts/slideLayout1.xml" Id="R615520bebb8048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5520bebb8048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1a839422b5d49a1" /><Relationship Type="http://schemas.openxmlformats.org/officeDocument/2006/relationships/image" Target="/ppt/media/image.png" Id="Ra14f6d16b5d5433e" /><Relationship Type="http://schemas.openxmlformats.org/officeDocument/2006/relationships/notesSlide" Target="/ppt/notesSlides/notesSlide1.xml" Id="Rcf954883523443a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cc517b4eee14b7e" /><Relationship Type="http://schemas.openxmlformats.org/officeDocument/2006/relationships/notesSlide" Target="/ppt/notesSlides/notesSlide2.xml" Id="R3ecfb275c161464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f6aa205f0b4ea7" /><Relationship Type="http://schemas.openxmlformats.org/officeDocument/2006/relationships/notesSlide" Target="/ppt/notesSlides/notesSlide3.xml" Id="R9ac38b56981c4b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11f75f665942de" /><Relationship Type="http://schemas.openxmlformats.org/officeDocument/2006/relationships/image" Target="/ppt/media/image2.png" Id="Ra4d780838f71471a" /><Relationship Type="http://schemas.openxmlformats.org/officeDocument/2006/relationships/notesSlide" Target="/ppt/notesSlides/notesSlide4.xml" Id="Rf4352673515f49a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16b7ec2ddac48d1" /><Relationship Type="http://schemas.openxmlformats.org/officeDocument/2006/relationships/notesSlide" Target="/ppt/notesSlides/notesSlide5.xml" Id="Rd83b66a97c464f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570b972fb814790" /><Relationship Type="http://schemas.openxmlformats.org/officeDocument/2006/relationships/image" Target="/ppt/media/image3.png" Id="R9151a064d67b4e7b" /><Relationship Type="http://schemas.openxmlformats.org/officeDocument/2006/relationships/image" Target="/ppt/media/image4.png" Id="Rbf75d90bd2714c34" /><Relationship Type="http://schemas.openxmlformats.org/officeDocument/2006/relationships/image" Target="/ppt/media/image5.png" Id="R00fa38fecb174543" /><Relationship Type="http://schemas.openxmlformats.org/officeDocument/2006/relationships/notesSlide" Target="/ppt/notesSlides/notesSlide6.xml" Id="Re57c4988434e42f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5754be1dd96490f" /><Relationship Type="http://schemas.openxmlformats.org/officeDocument/2006/relationships/image" Target="/ppt/media/image6.png" Id="R2e61099ac30e41f1" /><Relationship Type="http://schemas.openxmlformats.org/officeDocument/2006/relationships/image" Target="/ppt/media/image7.png" Id="R8ef96228e6e04cd2" /><Relationship Type="http://schemas.openxmlformats.org/officeDocument/2006/relationships/notesSlide" Target="/ppt/notesSlides/notesSlide7.xml" Id="Rd8853caf30d04c3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59B3396-85C3-4F38-A4F0-FC323C4C257E}"/>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00A6C7"/>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00D0EFD-53E2-4270-9A14-A72C355596C3}"/>
              </a:ext>
            </a:extLst>
          </p:cNvPr>
          <p:cNvSpPr>
            <a:spLocks xmlns:a="http://schemas.openxmlformats.org/drawingml/2006/main" noGrp="1"/>
          </p:cNvSpPr>
          <p:nvPr/>
        </p:nvSpPr>
        <p:spPr>
          <a:xfrm xmlns:a="http://schemas.openxmlformats.org/drawingml/2006/main">
            <a:off x="7905750" y="0"/>
            <a:ext cx="4286250" cy="6858000"/>
          </a:xfrm>
          <a:prstGeom xmlns:a="http://schemas.openxmlformats.org/drawingml/2006/main" prst="rect">
            <a:avLst/>
          </a:prstGeom>
          <a:solidFill xmlns:a="http://schemas.openxmlformats.org/drawingml/2006/main">
            <a:srgbClr val="300A24"/>
          </a:solidFill>
          <a:ln xmlns:a="http://schemas.openxmlformats.org/drawingml/2006/main" w="0">
            <a:no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14f6d16b5d5433e"/>
          <a:stretch xmlns:a="http://schemas.openxmlformats.org/drawingml/2006/main"/>
        </p:blipFill>
        <p:spPr>
          <a:xfrm xmlns:a="http://schemas.openxmlformats.org/drawingml/2006/main">
            <a:off x="8001000" y="1498654"/>
            <a:ext cx="4000500" cy="3098692"/>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9CC90C7-7746-4DA8-982D-86C256D12FCC}"/>
              </a:ext>
            </a:extLst>
          </p:cNvPr>
          <p:cNvSpPr>
            <a:spLocks xmlns:a="http://schemas.openxmlformats.org/drawingml/2006/main" noGrp="1"/>
          </p:cNvSpPr>
          <p:nvPr/>
        </p:nvSpPr>
        <p:spPr>
          <a:xfrm xmlns:a="http://schemas.openxmlformats.org/drawingml/2006/main">
            <a:off x="666750" y="74295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1368D4"/>
                </a:solidFill>
              </a:defRPr>
            </a:pPr>
            <a:r>
              <a:rPr sz="1050" b="1">
                <a:solidFill>
                  <a:srgbClr val="1368D4"/>
                </a:solidFill>
              </a:rPr>
              <a:t>PROYECTO DE SISTEMAS OPERATIVOS</a:t>
            </a:r>
          </a:p>
        </p:txBody>
      </p:sp>
      <p:sp>
        <p:nvSpPr>
          <p:cNvPr id="5" name="">
            <a:extLst xmlns:a="http://schemas.openxmlformats.org/drawingml/2006/main">
              <a:ext uri="{FF2B5EF4-FFF2-40B4-BE49-F238E27FC236}">
                <a16:creationId xmlns:a16="http://schemas.microsoft.com/office/drawing/2014/main" id="{2363CD9C-45C9-40A9-BC3D-B9B04895CA0E}"/>
              </a:ext>
            </a:extLst>
          </p:cNvPr>
          <p:cNvSpPr>
            <a:spLocks xmlns:a="http://schemas.openxmlformats.org/drawingml/2006/main" noGrp="1"/>
          </p:cNvSpPr>
          <p:nvPr/>
        </p:nvSpPr>
        <p:spPr>
          <a:xfrm xmlns:a="http://schemas.openxmlformats.org/drawingml/2006/main">
            <a:off x="666750" y="1381125"/>
            <a:ext cx="6572250" cy="1504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350" b="1">
                <a:solidFill>
                  <a:srgbClr val="15171A"/>
                </a:solidFill>
              </a:defRPr>
            </a:pPr>
            <a:r>
              <a:rPr sz="4350" b="1">
                <a:solidFill>
                  <a:srgbClr val="15171A"/>
                </a:solidFill>
              </a:rPr>
              <a:t>Linux Resource</a:t>
            </a:r>
          </a:p>
          <a:p xmlns:a="http://schemas.openxmlformats.org/drawingml/2006/main">
            <a:pPr algn="l">
              <a:buNone/>
              <a:defRPr sz="4350" b="1">
                <a:solidFill>
                  <a:srgbClr val="15171A"/>
                </a:solidFill>
              </a:defRPr>
            </a:pPr>
            <a:r>
              <a:rPr sz="4350" b="1">
                <a:solidFill>
                  <a:srgbClr val="15171A"/>
                </a:solidFill>
              </a:rPr>
              <a:t>Monitor</a:t>
            </a:r>
          </a:p>
        </p:txBody>
      </p:sp>
      <p:sp>
        <p:nvSpPr>
          <p:cNvPr id="6" name="">
            <a:extLst xmlns:a="http://schemas.openxmlformats.org/drawingml/2006/main">
              <a:ext uri="{FF2B5EF4-FFF2-40B4-BE49-F238E27FC236}">
                <a16:creationId xmlns:a16="http://schemas.microsoft.com/office/drawing/2014/main" id="{07A0CAAF-C397-4DF0-B966-4B724082BB79}"/>
              </a:ext>
            </a:extLst>
          </p:cNvPr>
          <p:cNvSpPr>
            <a:spLocks xmlns:a="http://schemas.openxmlformats.org/drawingml/2006/main" noGrp="1"/>
          </p:cNvSpPr>
          <p:nvPr/>
        </p:nvSpPr>
        <p:spPr>
          <a:xfrm xmlns:a="http://schemas.openxmlformats.org/drawingml/2006/main">
            <a:off x="685800" y="3124200"/>
            <a:ext cx="619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0">
                <a:solidFill>
                  <a:srgbClr val="5F6670"/>
                </a:solidFill>
              </a:defRPr>
            </a:pPr>
            <a:r>
              <a:rPr sz="1875" b="0">
                <a:solidFill>
                  <a:srgbClr val="5F6670"/>
                </a:solidFill>
              </a:rPr>
              <a:t>Monitoreo, concurrencia y persistencia en Linux</a:t>
            </a:r>
          </a:p>
        </p:txBody>
      </p:sp>
      <p:sp>
        <p:nvSpPr>
          <p:cNvPr id="7" name="">
            <a:extLst xmlns:a="http://schemas.openxmlformats.org/drawingml/2006/main">
              <a:ext uri="{FF2B5EF4-FFF2-40B4-BE49-F238E27FC236}">
                <a16:creationId xmlns:a16="http://schemas.microsoft.com/office/drawing/2014/main" id="{6E7AC418-EC4C-4C5B-922C-2F8652555EB8}"/>
              </a:ext>
            </a:extLst>
          </p:cNvPr>
          <p:cNvSpPr>
            <a:spLocks xmlns:a="http://schemas.openxmlformats.org/drawingml/2006/main" noGrp="1"/>
          </p:cNvSpPr>
          <p:nvPr/>
        </p:nvSpPr>
        <p:spPr>
          <a:xfrm xmlns:a="http://schemas.openxmlformats.org/drawingml/2006/main">
            <a:off x="685800" y="4029075"/>
            <a:ext cx="914400" cy="47625"/>
          </a:xfrm>
          <a:prstGeom xmlns:a="http://schemas.openxmlformats.org/drawingml/2006/main" prst="rect">
            <a:avLst/>
          </a:prstGeom>
          <a:solidFill xmlns:a="http://schemas.openxmlformats.org/drawingml/2006/main">
            <a:srgbClr val="1368D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AC4D17-8A46-4246-AC94-FE9A3C95F6E1}"/>
              </a:ext>
            </a:extLst>
          </p:cNvPr>
          <p:cNvSpPr>
            <a:spLocks xmlns:a="http://schemas.openxmlformats.org/drawingml/2006/main" noGrp="1"/>
          </p:cNvSpPr>
          <p:nvPr/>
        </p:nvSpPr>
        <p:spPr>
          <a:xfrm xmlns:a="http://schemas.openxmlformats.org/drawingml/2006/main">
            <a:off x="685800" y="4495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5171A"/>
                </a:solidFill>
              </a:defRPr>
            </a:pPr>
            <a:r>
              <a:rPr sz="1425" b="1">
                <a:solidFill>
                  <a:srgbClr val="15171A"/>
                </a:solidFill>
              </a:rPr>
              <a:t>Julio Cesar Blacio Machuca</a:t>
            </a:r>
          </a:p>
        </p:txBody>
      </p:sp>
      <p:sp>
        <p:nvSpPr>
          <p:cNvPr id="9" name="">
            <a:extLst xmlns:a="http://schemas.openxmlformats.org/drawingml/2006/main">
              <a:ext uri="{FF2B5EF4-FFF2-40B4-BE49-F238E27FC236}">
                <a16:creationId xmlns:a16="http://schemas.microsoft.com/office/drawing/2014/main" id="{03C739F8-74DE-4B6F-981B-E3BC8D8BF927}"/>
              </a:ext>
            </a:extLst>
          </p:cNvPr>
          <p:cNvSpPr>
            <a:spLocks xmlns:a="http://schemas.openxmlformats.org/drawingml/2006/main" noGrp="1"/>
          </p:cNvSpPr>
          <p:nvPr/>
        </p:nvSpPr>
        <p:spPr>
          <a:xfrm xmlns:a="http://schemas.openxmlformats.org/drawingml/2006/main">
            <a:off x="685800" y="483870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5171A"/>
                </a:solidFill>
              </a:defRPr>
            </a:pPr>
            <a:r>
              <a:rPr sz="1425" b="1">
                <a:solidFill>
                  <a:srgbClr val="15171A"/>
                </a:solidFill>
              </a:rPr>
              <a:t>Ariel Jose Llumiquinga Ñacato</a:t>
            </a:r>
          </a:p>
        </p:txBody>
      </p:sp>
      <p:sp>
        <p:nvSpPr>
          <p:cNvPr id="10" name="">
            <a:extLst xmlns:a="http://schemas.openxmlformats.org/drawingml/2006/main">
              <a:ext uri="{FF2B5EF4-FFF2-40B4-BE49-F238E27FC236}">
                <a16:creationId xmlns:a16="http://schemas.microsoft.com/office/drawing/2014/main" id="{A8FF555D-051F-4F0B-BBDD-964D068CA8DB}"/>
              </a:ext>
            </a:extLst>
          </p:cNvPr>
          <p:cNvSpPr>
            <a:spLocks xmlns:a="http://schemas.openxmlformats.org/drawingml/2006/main" noGrp="1"/>
          </p:cNvSpPr>
          <p:nvPr/>
        </p:nvSpPr>
        <p:spPr>
          <a:xfrm xmlns:a="http://schemas.openxmlformats.org/drawingml/2006/main">
            <a:off x="685800" y="5486400"/>
            <a:ext cx="581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5F6670"/>
                </a:solidFill>
              </a:defRPr>
            </a:pPr>
            <a:r>
              <a:rPr sz="1200" b="0">
                <a:solidFill>
                  <a:srgbClr val="5F6670"/>
                </a:solidFill>
              </a:rPr>
              <a:t>Universidad de las Fuerzas Armadas ESPE</a:t>
            </a:r>
          </a:p>
          <a:p xmlns:a="http://schemas.openxmlformats.org/drawingml/2006/main">
            <a:pPr algn="l">
              <a:buNone/>
              <a:defRPr sz="1200" b="0">
                <a:solidFill>
                  <a:srgbClr val="5F6670"/>
                </a:solidFill>
              </a:defRPr>
            </a:pPr>
            <a:r>
              <a:rPr sz="1200" b="0">
                <a:solidFill>
                  <a:srgbClr val="5F6670"/>
                </a:solidFill>
              </a:rPr>
              <a:t>Carrera de Ingeniería de Software</a:t>
            </a:r>
          </a:p>
        </p:txBody>
      </p:sp>
      <p:sp>
        <p:nvSpPr>
          <p:cNvPr id="11" name="">
            <a:extLst xmlns:a="http://schemas.openxmlformats.org/drawingml/2006/main">
              <a:ext uri="{FF2B5EF4-FFF2-40B4-BE49-F238E27FC236}">
                <a16:creationId xmlns:a16="http://schemas.microsoft.com/office/drawing/2014/main" id="{F1AB458C-AADC-44A7-AEA0-0E8BB4C074B2}"/>
              </a:ext>
            </a:extLst>
          </p:cNvPr>
          <p:cNvSpPr>
            <a:spLocks xmlns:a="http://schemas.openxmlformats.org/drawingml/2006/main" noGrp="1"/>
          </p:cNvSpPr>
          <p:nvPr/>
        </p:nvSpPr>
        <p:spPr>
          <a:xfrm xmlns:a="http://schemas.openxmlformats.org/drawingml/2006/main">
            <a:off x="8286750" y="55816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FFFFFF"/>
                </a:solidFill>
              </a:defRPr>
            </a:pPr>
            <a:r>
              <a:rPr sz="1050" b="1">
                <a:solidFill>
                  <a:srgbClr val="FFFFFF"/>
                </a:solidFill>
              </a:rPr>
              <a:t>PYTHON 3  /  LINUX  /  SQLITE</a:t>
            </a:r>
          </a:p>
        </p:txBody>
      </p:sp>
    </p:spTree>
    <p:extLst>
      <p:ext uri="{BB962C8B-B14F-4D97-AF65-F5344CB8AC3E}">
        <p14:creationId xmlns:p14="http://schemas.microsoft.com/office/powerpoint/2010/main" val="89452699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E3F70103-D373-4EFB-94A7-783BE9ABF48B}"/>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INTRODUCCIÓN</a:t>
            </a:r>
          </a:p>
        </p:txBody>
      </p:sp>
      <p:sp>
        <p:nvSpPr>
          <p:cNvPr id="2" name="">
            <a:extLst xmlns:a="http://schemas.openxmlformats.org/drawingml/2006/main">
              <a:ext uri="{FF2B5EF4-FFF2-40B4-BE49-F238E27FC236}">
                <a16:creationId xmlns:a16="http://schemas.microsoft.com/office/drawing/2014/main" id="{6A06C9B3-0237-4794-B792-E56139D95B18}"/>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Linux expone sus recursos, pero la información está dispersa</a:t>
            </a:r>
          </a:p>
        </p:txBody>
      </p:sp>
      <p:sp>
        <p:nvSpPr>
          <p:cNvPr id="3" name="">
            <a:extLst xmlns:a="http://schemas.openxmlformats.org/drawingml/2006/main">
              <a:ext uri="{FF2B5EF4-FFF2-40B4-BE49-F238E27FC236}">
                <a16:creationId xmlns:a16="http://schemas.microsoft.com/office/drawing/2014/main" id="{C576E6B1-C302-47A4-97D5-3C137F5224D2}"/>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E3B6DDB-AC4C-4DD2-B2AB-2E680F369CB6}"/>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02</a:t>
            </a:r>
          </a:p>
        </p:txBody>
      </p:sp>
      <p:sp>
        <p:nvSpPr>
          <p:cNvPr id="5" name="">
            <a:extLst xmlns:a="http://schemas.openxmlformats.org/drawingml/2006/main">
              <a:ext uri="{FF2B5EF4-FFF2-40B4-BE49-F238E27FC236}">
                <a16:creationId xmlns:a16="http://schemas.microsoft.com/office/drawing/2014/main" id="{33F7A5CF-65D7-42CA-AC18-25A0FDC3DE5A}"/>
              </a:ext>
            </a:extLst>
          </p:cNvPr>
          <p:cNvSpPr>
            <a:spLocks xmlns:a="http://schemas.openxmlformats.org/drawingml/2006/main" noGrp="1"/>
          </p:cNvSpPr>
          <p:nvPr/>
        </p:nvSpPr>
        <p:spPr>
          <a:xfrm xmlns:a="http://schemas.openxmlformats.org/drawingml/2006/main">
            <a:off x="495300" y="1504950"/>
            <a:ext cx="49530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171A"/>
                </a:solidFill>
              </a:defRPr>
            </a:pPr>
            <a:r>
              <a:rPr sz="1950" b="1">
                <a:solidFill>
                  <a:srgbClr val="15171A"/>
                </a:solidFill>
              </a:rPr>
              <a:t>El sistema operativo ya ofrece los datos; el reto es leerlos, interpretarlos y presentarlos de forma coherente.</a:t>
            </a:r>
          </a:p>
        </p:txBody>
      </p:sp>
      <p:sp>
        <p:nvSpPr>
          <p:cNvPr id="6" name="">
            <a:extLst xmlns:a="http://schemas.openxmlformats.org/drawingml/2006/main">
              <a:ext uri="{FF2B5EF4-FFF2-40B4-BE49-F238E27FC236}">
                <a16:creationId xmlns:a16="http://schemas.microsoft.com/office/drawing/2014/main" id="{82710DA5-0DB6-44AF-A438-24D0C1C09270}"/>
              </a:ext>
            </a:extLst>
          </p:cNvPr>
          <p:cNvSpPr>
            <a:spLocks xmlns:a="http://schemas.openxmlformats.org/drawingml/2006/main" noGrp="1"/>
          </p:cNvSpPr>
          <p:nvPr/>
        </p:nvSpPr>
        <p:spPr>
          <a:xfrm xmlns:a="http://schemas.openxmlformats.org/drawingml/2006/main">
            <a:off x="495300" y="2743200"/>
            <a:ext cx="4762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0">
                <a:solidFill>
                  <a:srgbClr val="5F6670"/>
                </a:solidFill>
              </a:defRPr>
            </a:pPr>
            <a:r>
              <a:rPr sz="1425" b="0">
                <a:solidFill>
                  <a:srgbClr val="5F6670"/>
                </a:solidFill>
              </a:rPr>
              <a:t>Los valores cambian mientras se consultan y provienen de archivos o comandos con formatos diferentes.</a:t>
            </a:r>
          </a:p>
        </p:txBody>
      </p:sp>
      <p:sp>
        <p:nvSpPr>
          <p:cNvPr id="7" name="">
            <a:extLst xmlns:a="http://schemas.openxmlformats.org/drawingml/2006/main">
              <a:ext uri="{FF2B5EF4-FFF2-40B4-BE49-F238E27FC236}">
                <a16:creationId xmlns:a16="http://schemas.microsoft.com/office/drawing/2014/main" id="{DC9B1C7C-A7B9-40EA-BFDE-03536EDE8A09}"/>
              </a:ext>
            </a:extLst>
          </p:cNvPr>
          <p:cNvSpPr>
            <a:spLocks xmlns:a="http://schemas.openxmlformats.org/drawingml/2006/main" noGrp="1"/>
          </p:cNvSpPr>
          <p:nvPr/>
        </p:nvSpPr>
        <p:spPr>
          <a:xfrm xmlns:a="http://schemas.openxmlformats.org/drawingml/2006/main">
            <a:off x="5905500" y="1524000"/>
            <a:ext cx="5791200" cy="4333875"/>
          </a:xfrm>
          <a:prstGeom xmlns:a="http://schemas.openxmlformats.org/drawingml/2006/main" prst="roundRect">
            <a:avLst>
              <a:gd name="adj" fmla="val 1758"/>
            </a:avLst>
          </a:prstGeom>
          <a:solidFill xmlns:a="http://schemas.openxmlformats.org/drawingml/2006/main">
            <a:srgbClr val="0B0C0E"/>
          </a:solidFill>
          <a:ln xmlns:a="http://schemas.openxmlformats.org/drawingml/2006/main" w="9525">
            <a:solidFill>
              <a:srgbClr val="0B0C0E"/>
            </a:solidFill>
            <a:prstDash val="solid"/>
          </a:ln>
        </p:spPr>
      </p:sp>
      <p:sp>
        <p:nvSpPr>
          <p:cNvPr id="8" name="">
            <a:extLst xmlns:a="http://schemas.openxmlformats.org/drawingml/2006/main">
              <a:ext uri="{FF2B5EF4-FFF2-40B4-BE49-F238E27FC236}">
                <a16:creationId xmlns:a16="http://schemas.microsoft.com/office/drawing/2014/main" id="{ACA658FD-D27C-423D-9284-854BC6F384E2}"/>
              </a:ext>
            </a:extLst>
          </p:cNvPr>
          <p:cNvSpPr>
            <a:spLocks xmlns:a="http://schemas.openxmlformats.org/drawingml/2006/main" noGrp="1"/>
          </p:cNvSpPr>
          <p:nvPr/>
        </p:nvSpPr>
        <p:spPr>
          <a:xfrm xmlns:a="http://schemas.openxmlformats.org/drawingml/2006/main">
            <a:off x="6210300" y="17716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2E0FF"/>
                </a:solidFill>
              </a:defRPr>
            </a:pPr>
            <a:r>
              <a:rPr sz="1200" b="1">
                <a:solidFill>
                  <a:srgbClr val="72E0FF"/>
                </a:solidFill>
              </a:rPr>
              <a:t>$ fuentes del sistema</a:t>
            </a:r>
          </a:p>
        </p:txBody>
      </p:sp>
      <p:sp>
        <p:nvSpPr>
          <p:cNvPr id="9" name="">
            <a:extLst xmlns:a="http://schemas.openxmlformats.org/drawingml/2006/main">
              <a:ext uri="{FF2B5EF4-FFF2-40B4-BE49-F238E27FC236}">
                <a16:creationId xmlns:a16="http://schemas.microsoft.com/office/drawing/2014/main" id="{1E5ADCAC-9916-4338-887D-E59481296663}"/>
              </a:ext>
            </a:extLst>
          </p:cNvPr>
          <p:cNvSpPr>
            <a:spLocks xmlns:a="http://schemas.openxmlformats.org/drawingml/2006/main" noGrp="1"/>
          </p:cNvSpPr>
          <p:nvPr/>
        </p:nvSpPr>
        <p:spPr>
          <a:xfrm xmlns:a="http://schemas.openxmlformats.org/drawingml/2006/main">
            <a:off x="6210300" y="22860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/proc/cpuinfo</a:t>
            </a:r>
          </a:p>
        </p:txBody>
      </p:sp>
      <p:sp>
        <p:nvSpPr>
          <p:cNvPr id="10" name="">
            <a:extLst xmlns:a="http://schemas.openxmlformats.org/drawingml/2006/main">
              <a:ext uri="{FF2B5EF4-FFF2-40B4-BE49-F238E27FC236}">
                <a16:creationId xmlns:a16="http://schemas.microsoft.com/office/drawing/2014/main" id="{FEE909AB-E6DB-4CEF-A451-9DED10F82E5B}"/>
              </a:ext>
            </a:extLst>
          </p:cNvPr>
          <p:cNvSpPr>
            <a:spLocks xmlns:a="http://schemas.openxmlformats.org/drawingml/2006/main" noGrp="1"/>
          </p:cNvSpPr>
          <p:nvPr/>
        </p:nvSpPr>
        <p:spPr>
          <a:xfrm xmlns:a="http://schemas.openxmlformats.org/drawingml/2006/main">
            <a:off x="8334375" y="22860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modelo y procesadores lógicos</a:t>
            </a:r>
          </a:p>
        </p:txBody>
      </p:sp>
      <p:sp>
        <p:nvSpPr>
          <p:cNvPr id="11" name="">
            <a:extLst xmlns:a="http://schemas.openxmlformats.org/drawingml/2006/main">
              <a:ext uri="{FF2B5EF4-FFF2-40B4-BE49-F238E27FC236}">
                <a16:creationId xmlns:a16="http://schemas.microsoft.com/office/drawing/2014/main" id="{EBCF5283-F73F-4349-B8A8-27DC36DA60E0}"/>
              </a:ext>
            </a:extLst>
          </p:cNvPr>
          <p:cNvSpPr>
            <a:spLocks xmlns:a="http://schemas.openxmlformats.org/drawingml/2006/main" noGrp="1"/>
          </p:cNvSpPr>
          <p:nvPr/>
        </p:nvSpPr>
        <p:spPr>
          <a:xfrm xmlns:a="http://schemas.openxmlformats.org/drawingml/2006/main">
            <a:off x="6210300" y="29337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/proc/stat</a:t>
            </a:r>
          </a:p>
        </p:txBody>
      </p:sp>
      <p:sp>
        <p:nvSpPr>
          <p:cNvPr id="12" name="">
            <a:extLst xmlns:a="http://schemas.openxmlformats.org/drawingml/2006/main">
              <a:ext uri="{FF2B5EF4-FFF2-40B4-BE49-F238E27FC236}">
                <a16:creationId xmlns:a16="http://schemas.microsoft.com/office/drawing/2014/main" id="{5385DF60-9F4E-48A0-9DB7-5EAB13977EDB}"/>
              </a:ext>
            </a:extLst>
          </p:cNvPr>
          <p:cNvSpPr>
            <a:spLocks xmlns:a="http://schemas.openxmlformats.org/drawingml/2006/main" noGrp="1"/>
          </p:cNvSpPr>
          <p:nvPr/>
        </p:nvSpPr>
        <p:spPr>
          <a:xfrm xmlns:a="http://schemas.openxmlformats.org/drawingml/2006/main">
            <a:off x="8334375" y="29337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porcentaje de uso de CPU</a:t>
            </a:r>
          </a:p>
        </p:txBody>
      </p:sp>
      <p:sp>
        <p:nvSpPr>
          <p:cNvPr id="13" name="">
            <a:extLst xmlns:a="http://schemas.openxmlformats.org/drawingml/2006/main">
              <a:ext uri="{FF2B5EF4-FFF2-40B4-BE49-F238E27FC236}">
                <a16:creationId xmlns:a16="http://schemas.microsoft.com/office/drawing/2014/main" id="{AE28939E-1031-4A37-A171-104A844F71BA}"/>
              </a:ext>
            </a:extLst>
          </p:cNvPr>
          <p:cNvSpPr>
            <a:spLocks xmlns:a="http://schemas.openxmlformats.org/drawingml/2006/main" noGrp="1"/>
          </p:cNvSpPr>
          <p:nvPr/>
        </p:nvSpPr>
        <p:spPr>
          <a:xfrm xmlns:a="http://schemas.openxmlformats.org/drawingml/2006/main">
            <a:off x="6210300" y="35814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/proc/meminfo</a:t>
            </a:r>
          </a:p>
        </p:txBody>
      </p:sp>
      <p:sp>
        <p:nvSpPr>
          <p:cNvPr id="14" name="">
            <a:extLst xmlns:a="http://schemas.openxmlformats.org/drawingml/2006/main">
              <a:ext uri="{FF2B5EF4-FFF2-40B4-BE49-F238E27FC236}">
                <a16:creationId xmlns:a16="http://schemas.microsoft.com/office/drawing/2014/main" id="{7C820BE1-CC11-4D31-988D-4529AE82EDDC}"/>
              </a:ext>
            </a:extLst>
          </p:cNvPr>
          <p:cNvSpPr>
            <a:spLocks xmlns:a="http://schemas.openxmlformats.org/drawingml/2006/main" noGrp="1"/>
          </p:cNvSpPr>
          <p:nvPr/>
        </p:nvSpPr>
        <p:spPr>
          <a:xfrm xmlns:a="http://schemas.openxmlformats.org/drawingml/2006/main">
            <a:off x="8334375" y="35814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RAM y swap</a:t>
            </a:r>
          </a:p>
        </p:txBody>
      </p:sp>
      <p:sp>
        <p:nvSpPr>
          <p:cNvPr id="15" name="">
            <a:extLst xmlns:a="http://schemas.openxmlformats.org/drawingml/2006/main">
              <a:ext uri="{FF2B5EF4-FFF2-40B4-BE49-F238E27FC236}">
                <a16:creationId xmlns:a16="http://schemas.microsoft.com/office/drawing/2014/main" id="{9F60ACE1-A312-4AFB-87EC-60234760780B}"/>
              </a:ext>
            </a:extLst>
          </p:cNvPr>
          <p:cNvSpPr>
            <a:spLocks xmlns:a="http://schemas.openxmlformats.org/drawingml/2006/main" noGrp="1"/>
          </p:cNvSpPr>
          <p:nvPr/>
        </p:nvSpPr>
        <p:spPr>
          <a:xfrm xmlns:a="http://schemas.openxmlformats.org/drawingml/2006/main">
            <a:off x="6210300" y="42291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/proc/net/dev</a:t>
            </a:r>
          </a:p>
        </p:txBody>
      </p:sp>
      <p:sp>
        <p:nvSpPr>
          <p:cNvPr id="16" name="">
            <a:extLst xmlns:a="http://schemas.openxmlformats.org/drawingml/2006/main">
              <a:ext uri="{FF2B5EF4-FFF2-40B4-BE49-F238E27FC236}">
                <a16:creationId xmlns:a16="http://schemas.microsoft.com/office/drawing/2014/main" id="{1F756F49-3DC4-4ED3-BF8C-991E9E794536}"/>
              </a:ext>
            </a:extLst>
          </p:cNvPr>
          <p:cNvSpPr>
            <a:spLocks xmlns:a="http://schemas.openxmlformats.org/drawingml/2006/main" noGrp="1"/>
          </p:cNvSpPr>
          <p:nvPr/>
        </p:nvSpPr>
        <p:spPr>
          <a:xfrm xmlns:a="http://schemas.openxmlformats.org/drawingml/2006/main">
            <a:off x="8334375" y="42291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tráfico por interfaz</a:t>
            </a:r>
          </a:p>
        </p:txBody>
      </p:sp>
      <p:sp>
        <p:nvSpPr>
          <p:cNvPr id="17" name="">
            <a:extLst xmlns:a="http://schemas.openxmlformats.org/drawingml/2006/main">
              <a:ext uri="{FF2B5EF4-FFF2-40B4-BE49-F238E27FC236}">
                <a16:creationId xmlns:a16="http://schemas.microsoft.com/office/drawing/2014/main" id="{4A66EB4E-B3F9-4CA0-81E1-2EDDD0D3156C}"/>
              </a:ext>
            </a:extLst>
          </p:cNvPr>
          <p:cNvSpPr>
            <a:spLocks xmlns:a="http://schemas.openxmlformats.org/drawingml/2006/main" noGrp="1"/>
          </p:cNvSpPr>
          <p:nvPr/>
        </p:nvSpPr>
        <p:spPr>
          <a:xfrm xmlns:a="http://schemas.openxmlformats.org/drawingml/2006/main">
            <a:off x="6210300" y="4876800"/>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FFFFFF"/>
                </a:solidFill>
              </a:defRPr>
            </a:pPr>
            <a:r>
              <a:rPr sz="1350" b="1">
                <a:solidFill>
                  <a:srgbClr val="FFFFFF"/>
                </a:solidFill>
              </a:rPr>
              <a:t>df · ip · who</a:t>
            </a:r>
          </a:p>
        </p:txBody>
      </p:sp>
      <p:sp>
        <p:nvSpPr>
          <p:cNvPr id="18" name="">
            <a:extLst xmlns:a="http://schemas.openxmlformats.org/drawingml/2006/main">
              <a:ext uri="{FF2B5EF4-FFF2-40B4-BE49-F238E27FC236}">
                <a16:creationId xmlns:a16="http://schemas.microsoft.com/office/drawing/2014/main" id="{DC408D5C-0A99-412F-86C6-69B419293B58}"/>
              </a:ext>
            </a:extLst>
          </p:cNvPr>
          <p:cNvSpPr>
            <a:spLocks xmlns:a="http://schemas.openxmlformats.org/drawingml/2006/main" noGrp="1"/>
          </p:cNvSpPr>
          <p:nvPr/>
        </p:nvSpPr>
        <p:spPr>
          <a:xfrm xmlns:a="http://schemas.openxmlformats.org/drawingml/2006/main">
            <a:off x="8334375" y="487680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B7C0CA"/>
                </a:solidFill>
              </a:defRPr>
            </a:pPr>
            <a:r>
              <a:rPr sz="1200" b="0">
                <a:solidFill>
                  <a:srgbClr val="B7C0CA"/>
                </a:solidFill>
              </a:rPr>
              <a:t>disco, red y sesiones</a:t>
            </a:r>
          </a:p>
        </p:txBody>
      </p:sp>
      <p:sp>
        <p:nvSpPr>
          <p:cNvPr id="19" name="">
            <a:extLst xmlns:a="http://schemas.openxmlformats.org/drawingml/2006/main">
              <a:ext uri="{FF2B5EF4-FFF2-40B4-BE49-F238E27FC236}">
                <a16:creationId xmlns:a16="http://schemas.microsoft.com/office/drawing/2014/main" id="{0893878C-93DC-4382-85C7-7061089CFC80}"/>
              </a:ext>
            </a:extLst>
          </p:cNvPr>
          <p:cNvSpPr>
            <a:spLocks xmlns:a="http://schemas.openxmlformats.org/drawingml/2006/main" noGrp="1"/>
          </p:cNvSpPr>
          <p:nvPr/>
        </p:nvSpPr>
        <p:spPr>
          <a:xfrm xmlns:a="http://schemas.openxmlformats.org/drawingml/2006/main">
            <a:off x="495300" y="4019550"/>
            <a:ext cx="4762500" cy="1409700"/>
          </a:xfrm>
          <a:prstGeom xmlns:a="http://schemas.openxmlformats.org/drawingml/2006/main" prst="roundRect">
            <a:avLst>
              <a:gd name="adj" fmla="val 5405"/>
            </a:avLst>
          </a:prstGeom>
          <a:solidFill xmlns:a="http://schemas.openxmlformats.org/drawingml/2006/main">
            <a:srgbClr val="F3F6F8"/>
          </a:solidFill>
          <a:ln xmlns:a="http://schemas.openxmlformats.org/drawingml/2006/main" w="9525">
            <a:solidFill>
              <a:srgbClr val="D9DEE5"/>
            </a:solidFill>
            <a:prstDash val="solid"/>
          </a:ln>
        </p:spPr>
      </p:sp>
      <p:sp>
        <p:nvSpPr>
          <p:cNvPr id="20" name="">
            <a:extLst xmlns:a="http://schemas.openxmlformats.org/drawingml/2006/main">
              <a:ext uri="{FF2B5EF4-FFF2-40B4-BE49-F238E27FC236}">
                <a16:creationId xmlns:a16="http://schemas.microsoft.com/office/drawing/2014/main" id="{224A3BBB-A7FF-4B1F-8CBC-F8882A740CE5}"/>
              </a:ext>
            </a:extLst>
          </p:cNvPr>
          <p:cNvSpPr>
            <a:spLocks xmlns:a="http://schemas.openxmlformats.org/drawingml/2006/main" noGrp="1"/>
          </p:cNvSpPr>
          <p:nvPr/>
        </p:nvSpPr>
        <p:spPr>
          <a:xfrm xmlns:a="http://schemas.openxmlformats.org/drawingml/2006/main">
            <a:off x="723900" y="42386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1368D4"/>
                </a:solidFill>
              </a:defRPr>
            </a:pPr>
            <a:r>
              <a:rPr sz="1500" b="1">
                <a:solidFill>
                  <a:srgbClr val="1368D4"/>
                </a:solidFill>
              </a:rPr>
              <a:t>Objetivo</a:t>
            </a:r>
          </a:p>
        </p:txBody>
      </p:sp>
      <p:sp>
        <p:nvSpPr>
          <p:cNvPr id="21" name="">
            <a:extLst xmlns:a="http://schemas.openxmlformats.org/drawingml/2006/main">
              <a:ext uri="{FF2B5EF4-FFF2-40B4-BE49-F238E27FC236}">
                <a16:creationId xmlns:a16="http://schemas.microsoft.com/office/drawing/2014/main" id="{2273E039-858C-4FC5-A194-7528C0CA6064}"/>
              </a:ext>
            </a:extLst>
          </p:cNvPr>
          <p:cNvSpPr>
            <a:spLocks xmlns:a="http://schemas.openxmlformats.org/drawingml/2006/main" noGrp="1"/>
          </p:cNvSpPr>
          <p:nvPr/>
        </p:nvSpPr>
        <p:spPr>
          <a:xfrm xmlns:a="http://schemas.openxmlformats.org/drawingml/2006/main">
            <a:off x="723900" y="4600575"/>
            <a:ext cx="4191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15171A"/>
                </a:solidFill>
              </a:defRPr>
            </a:pPr>
            <a:r>
              <a:rPr sz="1350" b="0">
                <a:solidFill>
                  <a:srgbClr val="15171A"/>
                </a:solidFill>
              </a:rPr>
              <a:t>Consolidar seis módulos de monitoreo sin modificar el sistema ni requerir privilegios administrativos.</a:t>
            </a:r>
          </a:p>
        </p:txBody>
      </p:sp>
      <p:sp>
        <p:nvSpPr>
          <p:cNvPr id="22" name="">
            <a:extLst xmlns:a="http://schemas.openxmlformats.org/drawingml/2006/main">
              <a:ext uri="{FF2B5EF4-FFF2-40B4-BE49-F238E27FC236}">
                <a16:creationId xmlns:a16="http://schemas.microsoft.com/office/drawing/2014/main" id="{CDA0B9DC-6561-4ED2-B04C-986554A10778}"/>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23" name="">
            <a:extLst xmlns:a="http://schemas.openxmlformats.org/drawingml/2006/main">
              <a:ext uri="{FF2B5EF4-FFF2-40B4-BE49-F238E27FC236}">
                <a16:creationId xmlns:a16="http://schemas.microsoft.com/office/drawing/2014/main" id="{7B347208-10E3-437F-AF11-81ECDBF463CC}"/>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2 / 7</a:t>
            </a:r>
          </a:p>
        </p:txBody>
      </p:sp>
    </p:spTree>
    <p:extLst>
      <p:ext uri="{BB962C8B-B14F-4D97-AF65-F5344CB8AC3E}">
        <p14:creationId xmlns:p14="http://schemas.microsoft.com/office/powerpoint/2010/main" val="135442080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EC224CD-E38B-4AE7-BA9D-07BDAE5D70B1}"/>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PROBLEMA</a:t>
            </a:r>
          </a:p>
        </p:txBody>
      </p:sp>
      <p:sp>
        <p:nvSpPr>
          <p:cNvPr id="2" name="">
            <a:extLst xmlns:a="http://schemas.openxmlformats.org/drawingml/2006/main">
              <a:ext uri="{FF2B5EF4-FFF2-40B4-BE49-F238E27FC236}">
                <a16:creationId xmlns:a16="http://schemas.microsoft.com/office/drawing/2014/main" id="{803E59D9-8037-4F6C-AA05-6BDFC0650CC7}"/>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El reto fue integrar seis fuentes sin perder consistencia</a:t>
            </a:r>
          </a:p>
        </p:txBody>
      </p:sp>
      <p:sp>
        <p:nvSpPr>
          <p:cNvPr id="3" name="">
            <a:extLst xmlns:a="http://schemas.openxmlformats.org/drawingml/2006/main">
              <a:ext uri="{FF2B5EF4-FFF2-40B4-BE49-F238E27FC236}">
                <a16:creationId xmlns:a16="http://schemas.microsoft.com/office/drawing/2014/main" id="{03970D60-06D6-430C-9670-932B55B8F881}"/>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84F68C6-7840-4899-93E0-31EEC46B848B}"/>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03</a:t>
            </a:r>
          </a:p>
        </p:txBody>
      </p:sp>
      <p:sp>
        <p:nvSpPr>
          <p:cNvPr id="5" name="">
            <a:extLst xmlns:a="http://schemas.openxmlformats.org/drawingml/2006/main">
              <a:ext uri="{FF2B5EF4-FFF2-40B4-BE49-F238E27FC236}">
                <a16:creationId xmlns:a16="http://schemas.microsoft.com/office/drawing/2014/main" id="{3B3E8A76-FC09-492C-98C1-C91E16788406}"/>
              </a:ext>
            </a:extLst>
          </p:cNvPr>
          <p:cNvSpPr>
            <a:spLocks xmlns:a="http://schemas.openxmlformats.org/drawingml/2006/main" noGrp="1"/>
          </p:cNvSpPr>
          <p:nvPr/>
        </p:nvSpPr>
        <p:spPr>
          <a:xfrm xmlns:a="http://schemas.openxmlformats.org/drawingml/2006/main">
            <a:off x="552450" y="1619250"/>
            <a:ext cx="914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225" b="1">
                <a:solidFill>
                  <a:srgbClr val="1368D4"/>
                </a:solidFill>
              </a:defRPr>
            </a:pPr>
            <a:r>
              <a:rPr sz="3225" b="1">
                <a:solidFill>
                  <a:srgbClr val="1368D4"/>
                </a:solidFill>
              </a:rPr>
              <a:t>01</a:t>
            </a:r>
          </a:p>
        </p:txBody>
      </p:sp>
      <p:sp>
        <p:nvSpPr>
          <p:cNvPr id="6" name="">
            <a:extLst xmlns:a="http://schemas.openxmlformats.org/drawingml/2006/main">
              <a:ext uri="{FF2B5EF4-FFF2-40B4-BE49-F238E27FC236}">
                <a16:creationId xmlns:a16="http://schemas.microsoft.com/office/drawing/2014/main" id="{AEC9D635-B11B-4ADE-9CEE-7E4628C0A9AB}"/>
              </a:ext>
            </a:extLst>
          </p:cNvPr>
          <p:cNvSpPr>
            <a:spLocks xmlns:a="http://schemas.openxmlformats.org/drawingml/2006/main" noGrp="1"/>
          </p:cNvSpPr>
          <p:nvPr/>
        </p:nvSpPr>
        <p:spPr>
          <a:xfrm xmlns:a="http://schemas.openxmlformats.org/drawingml/2006/main">
            <a:off x="1714500" y="16383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5171A"/>
                </a:solidFill>
              </a:defRPr>
            </a:pPr>
            <a:r>
              <a:rPr sz="1875" b="1">
                <a:solidFill>
                  <a:srgbClr val="15171A"/>
                </a:solidFill>
              </a:rPr>
              <a:t>Fuentes heterogéneas</a:t>
            </a:r>
          </a:p>
        </p:txBody>
      </p:sp>
      <p:sp>
        <p:nvSpPr>
          <p:cNvPr id="7" name="">
            <a:extLst xmlns:a="http://schemas.openxmlformats.org/drawingml/2006/main">
              <a:ext uri="{FF2B5EF4-FFF2-40B4-BE49-F238E27FC236}">
                <a16:creationId xmlns:a16="http://schemas.microsoft.com/office/drawing/2014/main" id="{6763D51B-35F0-4EBB-9404-D6C216E3E36F}"/>
              </a:ext>
            </a:extLst>
          </p:cNvPr>
          <p:cNvSpPr>
            <a:spLocks xmlns:a="http://schemas.openxmlformats.org/drawingml/2006/main" noGrp="1"/>
          </p:cNvSpPr>
          <p:nvPr/>
        </p:nvSpPr>
        <p:spPr>
          <a:xfrm xmlns:a="http://schemas.openxmlformats.org/drawingml/2006/main">
            <a:off x="1714500" y="2047875"/>
            <a:ext cx="4953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Archivos de /proc y comandos Linux entregan estructuras, unidades y errores diferentes.</a:t>
            </a:r>
          </a:p>
        </p:txBody>
      </p:sp>
      <p:sp>
        <p:nvSpPr>
          <p:cNvPr id="8" name="">
            <a:extLst xmlns:a="http://schemas.openxmlformats.org/drawingml/2006/main">
              <a:ext uri="{FF2B5EF4-FFF2-40B4-BE49-F238E27FC236}">
                <a16:creationId xmlns:a16="http://schemas.microsoft.com/office/drawing/2014/main" id="{32341ECB-202E-4734-A477-DA3298903D8D}"/>
              </a:ext>
            </a:extLst>
          </p:cNvPr>
          <p:cNvSpPr>
            <a:spLocks xmlns:a="http://schemas.openxmlformats.org/drawingml/2006/main" noGrp="1"/>
          </p:cNvSpPr>
          <p:nvPr/>
        </p:nvSpPr>
        <p:spPr>
          <a:xfrm xmlns:a="http://schemas.openxmlformats.org/drawingml/2006/main">
            <a:off x="7086600" y="1781175"/>
            <a:ext cx="4095750" cy="685800"/>
          </a:xfrm>
          <a:prstGeom xmlns:a="http://schemas.openxmlformats.org/drawingml/2006/main" prst="roundRect">
            <a:avLst>
              <a:gd name="adj" fmla="val 11111"/>
            </a:avLst>
          </a:prstGeom>
          <a:solidFill xmlns:a="http://schemas.openxmlformats.org/drawingml/2006/main">
            <a:srgbClr val="F3F6F8"/>
          </a:solidFill>
          <a:ln xmlns:a="http://schemas.openxmlformats.org/drawingml/2006/main" w="9525">
            <a:solidFill>
              <a:srgbClr val="D9DEE5"/>
            </a:solidFill>
            <a:prstDash val="solid"/>
          </a:ln>
        </p:spPr>
      </p:sp>
      <p:sp>
        <p:nvSpPr>
          <p:cNvPr id="9" name="">
            <a:extLst xmlns:a="http://schemas.openxmlformats.org/drawingml/2006/main">
              <a:ext uri="{FF2B5EF4-FFF2-40B4-BE49-F238E27FC236}">
                <a16:creationId xmlns:a16="http://schemas.microsoft.com/office/drawing/2014/main" id="{910D848A-A348-46CB-AF5D-DAF2709B772C}"/>
              </a:ext>
            </a:extLst>
          </p:cNvPr>
          <p:cNvSpPr>
            <a:spLocks xmlns:a="http://schemas.openxmlformats.org/drawingml/2006/main" noGrp="1"/>
          </p:cNvSpPr>
          <p:nvPr/>
        </p:nvSpPr>
        <p:spPr>
          <a:xfrm xmlns:a="http://schemas.openxmlformats.org/drawingml/2006/main">
            <a:off x="7334250" y="196215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5171A"/>
                </a:solidFill>
              </a:defRPr>
            </a:pPr>
            <a:r>
              <a:rPr sz="1275" b="1">
                <a:solidFill>
                  <a:srgbClr val="15171A"/>
                </a:solidFill>
              </a:rPr>
              <a:t>Normalizar y validar antes de mostrar</a:t>
            </a:r>
          </a:p>
        </p:txBody>
      </p:sp>
      <p:sp>
        <p:nvSpPr>
          <p:cNvPr id="10" name="">
            <a:extLst xmlns:a="http://schemas.openxmlformats.org/drawingml/2006/main">
              <a:ext uri="{FF2B5EF4-FFF2-40B4-BE49-F238E27FC236}">
                <a16:creationId xmlns:a16="http://schemas.microsoft.com/office/drawing/2014/main" id="{202A85FC-5FB3-400B-88F7-6C4446CAD533}"/>
              </a:ext>
            </a:extLst>
          </p:cNvPr>
          <p:cNvSpPr>
            <a:spLocks xmlns:a="http://schemas.openxmlformats.org/drawingml/2006/main" noGrp="1"/>
          </p:cNvSpPr>
          <p:nvPr/>
        </p:nvSpPr>
        <p:spPr>
          <a:xfrm xmlns:a="http://schemas.openxmlformats.org/drawingml/2006/main">
            <a:off x="552450" y="2971800"/>
            <a:ext cx="914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225" b="1">
                <a:solidFill>
                  <a:srgbClr val="00A6C7"/>
                </a:solidFill>
              </a:defRPr>
            </a:pPr>
            <a:r>
              <a:rPr sz="3225" b="1">
                <a:solidFill>
                  <a:srgbClr val="00A6C7"/>
                </a:solidFill>
              </a:rPr>
              <a:t>02</a:t>
            </a:r>
          </a:p>
        </p:txBody>
      </p:sp>
      <p:sp>
        <p:nvSpPr>
          <p:cNvPr id="11" name="">
            <a:extLst xmlns:a="http://schemas.openxmlformats.org/drawingml/2006/main">
              <a:ext uri="{FF2B5EF4-FFF2-40B4-BE49-F238E27FC236}">
                <a16:creationId xmlns:a16="http://schemas.microsoft.com/office/drawing/2014/main" id="{6AFADE01-BF9F-4697-9F64-8F74876257B1}"/>
              </a:ext>
            </a:extLst>
          </p:cNvPr>
          <p:cNvSpPr>
            <a:spLocks xmlns:a="http://schemas.openxmlformats.org/drawingml/2006/main" noGrp="1"/>
          </p:cNvSpPr>
          <p:nvPr/>
        </p:nvSpPr>
        <p:spPr>
          <a:xfrm xmlns:a="http://schemas.openxmlformats.org/drawingml/2006/main">
            <a:off x="1714500" y="29908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5171A"/>
                </a:solidFill>
              </a:defRPr>
            </a:pPr>
            <a:r>
              <a:rPr sz="1875" b="1">
                <a:solidFill>
                  <a:srgbClr val="15171A"/>
                </a:solidFill>
              </a:rPr>
              <a:t>Estado cambiante</a:t>
            </a:r>
          </a:p>
        </p:txBody>
      </p:sp>
      <p:sp>
        <p:nvSpPr>
          <p:cNvPr id="12" name="">
            <a:extLst xmlns:a="http://schemas.openxmlformats.org/drawingml/2006/main">
              <a:ext uri="{FF2B5EF4-FFF2-40B4-BE49-F238E27FC236}">
                <a16:creationId xmlns:a16="http://schemas.microsoft.com/office/drawing/2014/main" id="{712B7A7E-CCDC-46C1-A595-022B8AD118F4}"/>
              </a:ext>
            </a:extLst>
          </p:cNvPr>
          <p:cNvSpPr>
            <a:spLocks xmlns:a="http://schemas.openxmlformats.org/drawingml/2006/main" noGrp="1"/>
          </p:cNvSpPr>
          <p:nvPr/>
        </p:nvSpPr>
        <p:spPr>
          <a:xfrm xmlns:a="http://schemas.openxmlformats.org/drawingml/2006/main">
            <a:off x="1714500" y="3400425"/>
            <a:ext cx="4953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CPU, procesos, sesiones y tráfico pueden variar durante una misma captura.</a:t>
            </a:r>
          </a:p>
        </p:txBody>
      </p:sp>
      <p:sp>
        <p:nvSpPr>
          <p:cNvPr id="13" name="">
            <a:extLst xmlns:a="http://schemas.openxmlformats.org/drawingml/2006/main">
              <a:ext uri="{FF2B5EF4-FFF2-40B4-BE49-F238E27FC236}">
                <a16:creationId xmlns:a16="http://schemas.microsoft.com/office/drawing/2014/main" id="{6CD753BA-162C-453B-9573-18AAFF9DC90D}"/>
              </a:ext>
            </a:extLst>
          </p:cNvPr>
          <p:cNvSpPr>
            <a:spLocks xmlns:a="http://schemas.openxmlformats.org/drawingml/2006/main" noGrp="1"/>
          </p:cNvSpPr>
          <p:nvPr/>
        </p:nvSpPr>
        <p:spPr>
          <a:xfrm xmlns:a="http://schemas.openxmlformats.org/drawingml/2006/main">
            <a:off x="7086600" y="3133725"/>
            <a:ext cx="4095750" cy="685800"/>
          </a:xfrm>
          <a:prstGeom xmlns:a="http://schemas.openxmlformats.org/drawingml/2006/main" prst="roundRect">
            <a:avLst>
              <a:gd name="adj" fmla="val 11111"/>
            </a:avLst>
          </a:prstGeom>
          <a:solidFill xmlns:a="http://schemas.openxmlformats.org/drawingml/2006/main">
            <a:srgbClr val="F3F6F8"/>
          </a:solidFill>
          <a:ln xmlns:a="http://schemas.openxmlformats.org/drawingml/2006/main" w="9525">
            <a:solidFill>
              <a:srgbClr val="D9DEE5"/>
            </a:solidFill>
            <a:prstDash val="solid"/>
          </a:ln>
        </p:spPr>
      </p:sp>
      <p:sp>
        <p:nvSpPr>
          <p:cNvPr id="14" name="">
            <a:extLst xmlns:a="http://schemas.openxmlformats.org/drawingml/2006/main">
              <a:ext uri="{FF2B5EF4-FFF2-40B4-BE49-F238E27FC236}">
                <a16:creationId xmlns:a16="http://schemas.microsoft.com/office/drawing/2014/main" id="{A7F45C18-C2A3-4DDD-8DC2-67BAFF62EE92}"/>
              </a:ext>
            </a:extLst>
          </p:cNvPr>
          <p:cNvSpPr>
            <a:spLocks xmlns:a="http://schemas.openxmlformats.org/drawingml/2006/main" noGrp="1"/>
          </p:cNvSpPr>
          <p:nvPr/>
        </p:nvSpPr>
        <p:spPr>
          <a:xfrm xmlns:a="http://schemas.openxmlformats.org/drawingml/2006/main">
            <a:off x="7334250" y="331470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5171A"/>
                </a:solidFill>
              </a:defRPr>
            </a:pPr>
            <a:r>
              <a:rPr sz="1275" b="1">
                <a:solidFill>
                  <a:srgbClr val="15171A"/>
                </a:solidFill>
              </a:rPr>
              <a:t>Consolidar resultados y tolerar cambios esperados</a:t>
            </a:r>
          </a:p>
        </p:txBody>
      </p:sp>
      <p:sp>
        <p:nvSpPr>
          <p:cNvPr id="15" name="">
            <a:extLst xmlns:a="http://schemas.openxmlformats.org/drawingml/2006/main">
              <a:ext uri="{FF2B5EF4-FFF2-40B4-BE49-F238E27FC236}">
                <a16:creationId xmlns:a16="http://schemas.microsoft.com/office/drawing/2014/main" id="{BE04E979-27DE-4459-9EB9-5E761967B719}"/>
              </a:ext>
            </a:extLst>
          </p:cNvPr>
          <p:cNvSpPr>
            <a:spLocks xmlns:a="http://schemas.openxmlformats.org/drawingml/2006/main" noGrp="1"/>
          </p:cNvSpPr>
          <p:nvPr/>
        </p:nvSpPr>
        <p:spPr>
          <a:xfrm xmlns:a="http://schemas.openxmlformats.org/drawingml/2006/main">
            <a:off x="552450" y="4324350"/>
            <a:ext cx="914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225" b="1">
                <a:solidFill>
                  <a:srgbClr val="177A58"/>
                </a:solidFill>
              </a:defRPr>
            </a:pPr>
            <a:r>
              <a:rPr sz="3225" b="1">
                <a:solidFill>
                  <a:srgbClr val="177A58"/>
                </a:solidFill>
              </a:rPr>
              <a:t>03</a:t>
            </a:r>
          </a:p>
        </p:txBody>
      </p:sp>
      <p:sp>
        <p:nvSpPr>
          <p:cNvPr id="16" name="">
            <a:extLst xmlns:a="http://schemas.openxmlformats.org/drawingml/2006/main">
              <a:ext uri="{FF2B5EF4-FFF2-40B4-BE49-F238E27FC236}">
                <a16:creationId xmlns:a16="http://schemas.microsoft.com/office/drawing/2014/main" id="{6448704A-3993-4A2C-8F94-A4CC13C59E7E}"/>
              </a:ext>
            </a:extLst>
          </p:cNvPr>
          <p:cNvSpPr>
            <a:spLocks xmlns:a="http://schemas.openxmlformats.org/drawingml/2006/main" noGrp="1"/>
          </p:cNvSpPr>
          <p:nvPr/>
        </p:nvSpPr>
        <p:spPr>
          <a:xfrm xmlns:a="http://schemas.openxmlformats.org/drawingml/2006/main">
            <a:off x="1714500" y="43434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5171A"/>
                </a:solidFill>
              </a:defRPr>
            </a:pPr>
            <a:r>
              <a:rPr sz="1875" b="1">
                <a:solidFill>
                  <a:srgbClr val="15171A"/>
                </a:solidFill>
              </a:rPr>
              <a:t>Historial completo</a:t>
            </a:r>
          </a:p>
        </p:txBody>
      </p:sp>
      <p:sp>
        <p:nvSpPr>
          <p:cNvPr id="17" name="">
            <a:extLst xmlns:a="http://schemas.openxmlformats.org/drawingml/2006/main">
              <a:ext uri="{FF2B5EF4-FFF2-40B4-BE49-F238E27FC236}">
                <a16:creationId xmlns:a16="http://schemas.microsoft.com/office/drawing/2014/main" id="{923C4704-47B3-4E17-AD88-5D5747DE00D1}"/>
              </a:ext>
            </a:extLst>
          </p:cNvPr>
          <p:cNvSpPr>
            <a:spLocks xmlns:a="http://schemas.openxmlformats.org/drawingml/2006/main" noGrp="1"/>
          </p:cNvSpPr>
          <p:nvPr/>
        </p:nvSpPr>
        <p:spPr>
          <a:xfrm xmlns:a="http://schemas.openxmlformats.org/drawingml/2006/main">
            <a:off x="1714500" y="4752975"/>
            <a:ext cx="4953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Una captura útil debe guardar todas sus métricas o no guardar ninguna.</a:t>
            </a:r>
          </a:p>
        </p:txBody>
      </p:sp>
      <p:sp>
        <p:nvSpPr>
          <p:cNvPr id="18" name="">
            <a:extLst xmlns:a="http://schemas.openxmlformats.org/drawingml/2006/main">
              <a:ext uri="{FF2B5EF4-FFF2-40B4-BE49-F238E27FC236}">
                <a16:creationId xmlns:a16="http://schemas.microsoft.com/office/drawing/2014/main" id="{011AD5E1-3F79-4754-B98D-FEFB73AE1784}"/>
              </a:ext>
            </a:extLst>
          </p:cNvPr>
          <p:cNvSpPr>
            <a:spLocks xmlns:a="http://schemas.openxmlformats.org/drawingml/2006/main" noGrp="1"/>
          </p:cNvSpPr>
          <p:nvPr/>
        </p:nvSpPr>
        <p:spPr>
          <a:xfrm xmlns:a="http://schemas.openxmlformats.org/drawingml/2006/main">
            <a:off x="7086600" y="4486275"/>
            <a:ext cx="4095750" cy="685800"/>
          </a:xfrm>
          <a:prstGeom xmlns:a="http://schemas.openxmlformats.org/drawingml/2006/main" prst="roundRect">
            <a:avLst>
              <a:gd name="adj" fmla="val 11111"/>
            </a:avLst>
          </a:prstGeom>
          <a:solidFill xmlns:a="http://schemas.openxmlformats.org/drawingml/2006/main">
            <a:srgbClr val="F3F6F8"/>
          </a:solidFill>
          <a:ln xmlns:a="http://schemas.openxmlformats.org/drawingml/2006/main" w="9525">
            <a:solidFill>
              <a:srgbClr val="D9DEE5"/>
            </a:solidFill>
            <a:prstDash val="solid"/>
          </a:ln>
        </p:spPr>
      </p:sp>
      <p:sp>
        <p:nvSpPr>
          <p:cNvPr id="19" name="">
            <a:extLst xmlns:a="http://schemas.openxmlformats.org/drawingml/2006/main">
              <a:ext uri="{FF2B5EF4-FFF2-40B4-BE49-F238E27FC236}">
                <a16:creationId xmlns:a16="http://schemas.microsoft.com/office/drawing/2014/main" id="{2FB590E2-2C6A-44D9-B5AF-1CBAF516EDB3}"/>
              </a:ext>
            </a:extLst>
          </p:cNvPr>
          <p:cNvSpPr>
            <a:spLocks xmlns:a="http://schemas.openxmlformats.org/drawingml/2006/main" noGrp="1"/>
          </p:cNvSpPr>
          <p:nvPr/>
        </p:nvSpPr>
        <p:spPr>
          <a:xfrm xmlns:a="http://schemas.openxmlformats.org/drawingml/2006/main">
            <a:off x="7334250" y="4667250"/>
            <a:ext cx="3619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15171A"/>
                </a:solidFill>
              </a:defRPr>
            </a:pPr>
            <a:r>
              <a:rPr sz="1275" b="1">
                <a:solidFill>
                  <a:srgbClr val="15171A"/>
                </a:solidFill>
              </a:rPr>
              <a:t>Persistir con una sola transacción SQLite</a:t>
            </a:r>
          </a:p>
        </p:txBody>
      </p:sp>
      <p:sp>
        <p:nvSpPr>
          <p:cNvPr id="20" name="">
            <a:extLst xmlns:a="http://schemas.openxmlformats.org/drawingml/2006/main">
              <a:ext uri="{FF2B5EF4-FFF2-40B4-BE49-F238E27FC236}">
                <a16:creationId xmlns:a16="http://schemas.microsoft.com/office/drawing/2014/main" id="{98969FCA-96BB-470F-9661-563868DA3EE0}"/>
              </a:ext>
            </a:extLst>
          </p:cNvPr>
          <p:cNvSpPr>
            <a:spLocks xmlns:a="http://schemas.openxmlformats.org/drawingml/2006/main" noGrp="1"/>
          </p:cNvSpPr>
          <p:nvPr/>
        </p:nvSpPr>
        <p:spPr>
          <a:xfrm xmlns:a="http://schemas.openxmlformats.org/drawingml/2006/main">
            <a:off x="495300" y="5857875"/>
            <a:ext cx="11201400" cy="419100"/>
          </a:xfrm>
          <a:prstGeom xmlns:a="http://schemas.openxmlformats.org/drawingml/2006/main" prst="rect">
            <a:avLst/>
          </a:prstGeom>
          <a:solidFill xmlns:a="http://schemas.openxmlformats.org/drawingml/2006/main">
            <a:srgbClr val="300A24"/>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4FB4141-F4E9-4146-BA57-49A72C8E226E}"/>
              </a:ext>
            </a:extLst>
          </p:cNvPr>
          <p:cNvSpPr>
            <a:spLocks xmlns:a="http://schemas.openxmlformats.org/drawingml/2006/main" noGrp="1"/>
          </p:cNvSpPr>
          <p:nvPr/>
        </p:nvSpPr>
        <p:spPr>
          <a:xfrm xmlns:a="http://schemas.openxmlformats.org/drawingml/2006/main">
            <a:off x="704850" y="5962650"/>
            <a:ext cx="1078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Criterio transversal: la interfaz debe seguir siendo clara aun cuando un módulo no pueda entregar datos.</a:t>
            </a:r>
          </a:p>
        </p:txBody>
      </p:sp>
      <p:sp>
        <p:nvSpPr>
          <p:cNvPr id="22" name="">
            <a:extLst xmlns:a="http://schemas.openxmlformats.org/drawingml/2006/main">
              <a:ext uri="{FF2B5EF4-FFF2-40B4-BE49-F238E27FC236}">
                <a16:creationId xmlns:a16="http://schemas.microsoft.com/office/drawing/2014/main" id="{63CEBE04-9834-49CF-A374-5ECB30BE0B25}"/>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23" name="">
            <a:extLst xmlns:a="http://schemas.openxmlformats.org/drawingml/2006/main">
              <a:ext uri="{FF2B5EF4-FFF2-40B4-BE49-F238E27FC236}">
                <a16:creationId xmlns:a16="http://schemas.microsoft.com/office/drawing/2014/main" id="{5C7A37A1-B824-4F85-B293-414826A01AAD}"/>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3 / 7</a:t>
            </a:r>
          </a:p>
        </p:txBody>
      </p:sp>
    </p:spTree>
    <p:extLst>
      <p:ext uri="{BB962C8B-B14F-4D97-AF65-F5344CB8AC3E}">
        <p14:creationId xmlns:p14="http://schemas.microsoft.com/office/powerpoint/2010/main" val="3623121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8CDA88D-EBFA-4D57-9E57-91BAAFBD01A8}"/>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SOLUCIÓN</a:t>
            </a:r>
          </a:p>
        </p:txBody>
      </p:sp>
      <p:sp>
        <p:nvSpPr>
          <p:cNvPr id="2" name="">
            <a:extLst xmlns:a="http://schemas.openxmlformats.org/drawingml/2006/main">
              <a:ext uri="{FF2B5EF4-FFF2-40B4-BE49-F238E27FC236}">
                <a16:creationId xmlns:a16="http://schemas.microsoft.com/office/drawing/2014/main" id="{70ACCCF5-9FDB-4264-8A6E-2FE3CC4D8685}"/>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MVC separa lectura, coordinación y presentación</a:t>
            </a:r>
          </a:p>
        </p:txBody>
      </p:sp>
      <p:sp>
        <p:nvSpPr>
          <p:cNvPr id="3" name="">
            <a:extLst xmlns:a="http://schemas.openxmlformats.org/drawingml/2006/main">
              <a:ext uri="{FF2B5EF4-FFF2-40B4-BE49-F238E27FC236}">
                <a16:creationId xmlns:a16="http://schemas.microsoft.com/office/drawing/2014/main" id="{F0ADF2E8-FE8A-41A6-8150-36083FCB1314}"/>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F271DA7-75DB-4FEC-B43A-AEE15453B142}"/>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04</a:t>
            </a:r>
          </a:p>
        </p:txBody>
      </p:sp>
      <p:sp>
        <p:nvSpPr>
          <p:cNvPr id="5" name="">
            <a:extLst xmlns:a="http://schemas.openxmlformats.org/drawingml/2006/main">
              <a:ext uri="{FF2B5EF4-FFF2-40B4-BE49-F238E27FC236}">
                <a16:creationId xmlns:a16="http://schemas.microsoft.com/office/drawing/2014/main" id="{4416C879-48D0-4C6F-8EF7-A0C47FC9304F}"/>
              </a:ext>
            </a:extLst>
          </p:cNvPr>
          <p:cNvSpPr>
            <a:spLocks xmlns:a="http://schemas.openxmlformats.org/drawingml/2006/main" noGrp="1"/>
          </p:cNvSpPr>
          <p:nvPr/>
        </p:nvSpPr>
        <p:spPr>
          <a:xfrm xmlns:a="http://schemas.openxmlformats.org/drawingml/2006/main">
            <a:off x="495300" y="1495425"/>
            <a:ext cx="11201400" cy="4648200"/>
          </a:xfrm>
          <a:prstGeom xmlns:a="http://schemas.openxmlformats.org/drawingml/2006/main" prst="roundRect">
            <a:avLst>
              <a:gd name="adj" fmla="val 1639"/>
            </a:avLst>
          </a:prstGeom>
          <a:solidFill xmlns:a="http://schemas.openxmlformats.org/drawingml/2006/main">
            <a:srgbClr val="F3F6F8"/>
          </a:solidFill>
          <a:ln xmlns:a="http://schemas.openxmlformats.org/drawingml/2006/main" w="9525">
            <a:solidFill>
              <a:srgbClr val="D9DEE5"/>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a4d780838f71471a"/>
          <a:stretch xmlns:a="http://schemas.openxmlformats.org/drawingml/2006/main"/>
        </p:blipFill>
        <p:spPr>
          <a:xfrm xmlns:a="http://schemas.openxmlformats.org/drawingml/2006/main">
            <a:off x="2877799" y="1619250"/>
            <a:ext cx="6436402" cy="43624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D2915F74-DFD2-40D7-8DC4-06809A3922EA}"/>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8" name="">
            <a:extLst xmlns:a="http://schemas.openxmlformats.org/drawingml/2006/main">
              <a:ext uri="{FF2B5EF4-FFF2-40B4-BE49-F238E27FC236}">
                <a16:creationId xmlns:a16="http://schemas.microsoft.com/office/drawing/2014/main" id="{389B4E5C-C784-4A7D-8B71-9A4056E2841C}"/>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4 / 7</a:t>
            </a:r>
          </a:p>
        </p:txBody>
      </p:sp>
    </p:spTree>
    <p:extLst>
      <p:ext uri="{BB962C8B-B14F-4D97-AF65-F5344CB8AC3E}">
        <p14:creationId xmlns:p14="http://schemas.microsoft.com/office/powerpoint/2010/main" val="82215549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B0CC2999-3D43-4D45-BD07-C9F73CB1B794}"/>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IMPLEMENTACIÓN</a:t>
            </a:r>
          </a:p>
        </p:txBody>
      </p:sp>
      <p:sp>
        <p:nvSpPr>
          <p:cNvPr id="2" name="">
            <a:extLst xmlns:a="http://schemas.openxmlformats.org/drawingml/2006/main">
              <a:ext uri="{FF2B5EF4-FFF2-40B4-BE49-F238E27FC236}">
                <a16:creationId xmlns:a16="http://schemas.microsoft.com/office/drawing/2014/main" id="{8327ADA9-4451-4402-A8C9-8A5902C7261C}"/>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Tecnologías y mecanismos utilizados</a:t>
            </a:r>
          </a:p>
        </p:txBody>
      </p:sp>
      <p:sp>
        <p:nvSpPr>
          <p:cNvPr id="3" name="">
            <a:extLst xmlns:a="http://schemas.openxmlformats.org/drawingml/2006/main">
              <a:ext uri="{FF2B5EF4-FFF2-40B4-BE49-F238E27FC236}">
                <a16:creationId xmlns:a16="http://schemas.microsoft.com/office/drawing/2014/main" id="{082B04CB-CE4C-479D-AC2C-4ABC46D5136E}"/>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0AE6788-6927-4BFF-AEC0-9FC856790AC0}"/>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05</a:t>
            </a:r>
          </a:p>
        </p:txBody>
      </p:sp>
      <p:sp>
        <p:nvSpPr>
          <p:cNvPr id="5" name="">
            <a:extLst xmlns:a="http://schemas.openxmlformats.org/drawingml/2006/main">
              <a:ext uri="{FF2B5EF4-FFF2-40B4-BE49-F238E27FC236}">
                <a16:creationId xmlns:a16="http://schemas.microsoft.com/office/drawing/2014/main" id="{C1448BE2-DA18-4436-BF26-9794BCD12E45}"/>
              </a:ext>
            </a:extLst>
          </p:cNvPr>
          <p:cNvSpPr>
            <a:spLocks xmlns:a="http://schemas.openxmlformats.org/drawingml/2006/main" noGrp="1"/>
          </p:cNvSpPr>
          <p:nvPr/>
        </p:nvSpPr>
        <p:spPr>
          <a:xfrm xmlns:a="http://schemas.openxmlformats.org/drawingml/2006/main">
            <a:off x="495300" y="1619250"/>
            <a:ext cx="3333750" cy="4000500"/>
          </a:xfrm>
          <a:prstGeom xmlns:a="http://schemas.openxmlformats.org/drawingml/2006/main" prst="roundRect">
            <a:avLst>
              <a:gd name="adj" fmla="val 2286"/>
            </a:avLst>
          </a:prstGeom>
          <a:solidFill xmlns:a="http://schemas.openxmlformats.org/drawingml/2006/main">
            <a:srgbClr val="F3F6F8"/>
          </a:solidFill>
          <a:ln xmlns:a="http://schemas.openxmlformats.org/drawingml/2006/main" w="9525">
            <a:solidFill>
              <a:srgbClr val="D9DEE5"/>
            </a:solidFill>
            <a:prstDash val="solid"/>
          </a:ln>
        </p:spPr>
      </p:sp>
      <p:sp>
        <p:nvSpPr>
          <p:cNvPr id="6" name="">
            <a:extLst xmlns:a="http://schemas.openxmlformats.org/drawingml/2006/main">
              <a:ext uri="{FF2B5EF4-FFF2-40B4-BE49-F238E27FC236}">
                <a16:creationId xmlns:a16="http://schemas.microsoft.com/office/drawing/2014/main" id="{9E072907-6C0D-409A-8E82-B0EA65CE0641}"/>
              </a:ext>
            </a:extLst>
          </p:cNvPr>
          <p:cNvSpPr>
            <a:spLocks xmlns:a="http://schemas.openxmlformats.org/drawingml/2006/main" noGrp="1"/>
          </p:cNvSpPr>
          <p:nvPr/>
        </p:nvSpPr>
        <p:spPr>
          <a:xfrm xmlns:a="http://schemas.openxmlformats.org/drawingml/2006/main">
            <a:off x="495300" y="1619250"/>
            <a:ext cx="3333750" cy="85725"/>
          </a:xfrm>
          <a:prstGeom xmlns:a="http://schemas.openxmlformats.org/drawingml/2006/main" prst="rect">
            <a:avLst/>
          </a:prstGeom>
          <a:solidFill xmlns:a="http://schemas.openxmlformats.org/drawingml/2006/main">
            <a:srgbClr val="1368D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31655EF-8159-43B8-97D3-0A6394B5A639}"/>
              </a:ext>
            </a:extLst>
          </p:cNvPr>
          <p:cNvSpPr>
            <a:spLocks xmlns:a="http://schemas.openxmlformats.org/drawingml/2006/main" noGrp="1"/>
          </p:cNvSpPr>
          <p:nvPr/>
        </p:nvSpPr>
        <p:spPr>
          <a:xfrm xmlns:a="http://schemas.openxmlformats.org/drawingml/2006/main">
            <a:off x="723900" y="1952625"/>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368D4"/>
                </a:solidFill>
              </a:defRPr>
            </a:pPr>
            <a:r>
              <a:rPr sz="2850" b="1">
                <a:solidFill>
                  <a:srgbClr val="1368D4"/>
                </a:solidFill>
              </a:rPr>
              <a:t>01</a:t>
            </a:r>
          </a:p>
        </p:txBody>
      </p:sp>
      <p:sp>
        <p:nvSpPr>
          <p:cNvPr id="8" name="">
            <a:extLst xmlns:a="http://schemas.openxmlformats.org/drawingml/2006/main">
              <a:ext uri="{FF2B5EF4-FFF2-40B4-BE49-F238E27FC236}">
                <a16:creationId xmlns:a16="http://schemas.microsoft.com/office/drawing/2014/main" id="{2B7724D6-15C5-403C-B621-F3A8CA300FEE}"/>
              </a:ext>
            </a:extLst>
          </p:cNvPr>
          <p:cNvSpPr>
            <a:spLocks xmlns:a="http://schemas.openxmlformats.org/drawingml/2006/main" noGrp="1"/>
          </p:cNvSpPr>
          <p:nvPr/>
        </p:nvSpPr>
        <p:spPr>
          <a:xfrm xmlns:a="http://schemas.openxmlformats.org/drawingml/2006/main">
            <a:off x="723900" y="25527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171A"/>
                </a:solidFill>
              </a:defRPr>
            </a:pPr>
            <a:r>
              <a:rPr sz="1950" b="1">
                <a:solidFill>
                  <a:srgbClr val="15171A"/>
                </a:solidFill>
              </a:rPr>
              <a:t>Base tecnológica</a:t>
            </a:r>
          </a:p>
        </p:txBody>
      </p:sp>
      <p:sp>
        <p:nvSpPr>
          <p:cNvPr id="9" name="">
            <a:extLst xmlns:a="http://schemas.openxmlformats.org/drawingml/2006/main">
              <a:ext uri="{FF2B5EF4-FFF2-40B4-BE49-F238E27FC236}">
                <a16:creationId xmlns:a16="http://schemas.microsoft.com/office/drawing/2014/main" id="{045199D2-60C1-4A8A-AFA8-62BC9F0BA2E6}"/>
              </a:ext>
            </a:extLst>
          </p:cNvPr>
          <p:cNvSpPr>
            <a:spLocks xmlns:a="http://schemas.openxmlformats.org/drawingml/2006/main" noGrp="1"/>
          </p:cNvSpPr>
          <p:nvPr/>
        </p:nvSpPr>
        <p:spPr>
          <a:xfrm xmlns:a="http://schemas.openxmlformats.org/drawingml/2006/main">
            <a:off x="723900" y="3105150"/>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300A24"/>
                </a:solidFill>
              </a:defRPr>
            </a:pPr>
            <a:r>
              <a:rPr sz="1575" b="1">
                <a:solidFill>
                  <a:srgbClr val="300A24"/>
                </a:solidFill>
              </a:rPr>
              <a:t>Python 3 + Linux</a:t>
            </a:r>
          </a:p>
        </p:txBody>
      </p:sp>
      <p:sp>
        <p:nvSpPr>
          <p:cNvPr id="10" name="">
            <a:extLst xmlns:a="http://schemas.openxmlformats.org/drawingml/2006/main">
              <a:ext uri="{FF2B5EF4-FFF2-40B4-BE49-F238E27FC236}">
                <a16:creationId xmlns:a16="http://schemas.microsoft.com/office/drawing/2014/main" id="{E7A295AA-6A12-4537-8360-6AA2C2060503}"/>
              </a:ext>
            </a:extLst>
          </p:cNvPr>
          <p:cNvSpPr>
            <a:spLocks xmlns:a="http://schemas.openxmlformats.org/drawingml/2006/main" noGrp="1"/>
          </p:cNvSpPr>
          <p:nvPr/>
        </p:nvSpPr>
        <p:spPr>
          <a:xfrm xmlns:a="http://schemas.openxmlformats.org/drawingml/2006/main">
            <a:off x="723900" y="3733800"/>
            <a:ext cx="2876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Aplicación de consola construida únicamente con la biblioteca estándar.</a:t>
            </a:r>
          </a:p>
        </p:txBody>
      </p:sp>
      <p:sp>
        <p:nvSpPr>
          <p:cNvPr id="11" name="">
            <a:extLst xmlns:a="http://schemas.openxmlformats.org/drawingml/2006/main">
              <a:ext uri="{FF2B5EF4-FFF2-40B4-BE49-F238E27FC236}">
                <a16:creationId xmlns:a16="http://schemas.microsoft.com/office/drawing/2014/main" id="{26DBB610-5DDF-43F3-9A37-2753625C73A7}"/>
              </a:ext>
            </a:extLst>
          </p:cNvPr>
          <p:cNvSpPr>
            <a:spLocks xmlns:a="http://schemas.openxmlformats.org/drawingml/2006/main" noGrp="1"/>
          </p:cNvSpPr>
          <p:nvPr/>
        </p:nvSpPr>
        <p:spPr>
          <a:xfrm xmlns:a="http://schemas.openxmlformats.org/drawingml/2006/main">
            <a:off x="723900" y="4924425"/>
            <a:ext cx="287655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8F77F5-42A6-40F8-8A7F-E2F160FEF4C4}"/>
              </a:ext>
            </a:extLst>
          </p:cNvPr>
          <p:cNvSpPr>
            <a:spLocks xmlns:a="http://schemas.openxmlformats.org/drawingml/2006/main" noGrp="1"/>
          </p:cNvSpPr>
          <p:nvPr/>
        </p:nvSpPr>
        <p:spPr>
          <a:xfrm xmlns:a="http://schemas.openxmlformats.org/drawingml/2006/main">
            <a:off x="723900" y="5095875"/>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1368D4"/>
                </a:solidFill>
              </a:defRPr>
            </a:pPr>
            <a:r>
              <a:rPr sz="1050" b="1">
                <a:solidFill>
                  <a:srgbClr val="1368D4"/>
                </a:solidFill>
              </a:rPr>
              <a:t>/proc · subprocess · comandos Linux</a:t>
            </a:r>
          </a:p>
        </p:txBody>
      </p:sp>
      <p:sp>
        <p:nvSpPr>
          <p:cNvPr id="13" name="">
            <a:extLst xmlns:a="http://schemas.openxmlformats.org/drawingml/2006/main">
              <a:ext uri="{FF2B5EF4-FFF2-40B4-BE49-F238E27FC236}">
                <a16:creationId xmlns:a16="http://schemas.microsoft.com/office/drawing/2014/main" id="{9EA84055-2405-423B-BB44-75E5A0238AA1}"/>
              </a:ext>
            </a:extLst>
          </p:cNvPr>
          <p:cNvSpPr>
            <a:spLocks xmlns:a="http://schemas.openxmlformats.org/drawingml/2006/main" noGrp="1"/>
          </p:cNvSpPr>
          <p:nvPr/>
        </p:nvSpPr>
        <p:spPr>
          <a:xfrm xmlns:a="http://schemas.openxmlformats.org/drawingml/2006/main">
            <a:off x="4267200" y="1619250"/>
            <a:ext cx="3333750" cy="4000500"/>
          </a:xfrm>
          <a:prstGeom xmlns:a="http://schemas.openxmlformats.org/drawingml/2006/main" prst="roundRect">
            <a:avLst>
              <a:gd name="adj" fmla="val 2286"/>
            </a:avLst>
          </a:prstGeom>
          <a:solidFill xmlns:a="http://schemas.openxmlformats.org/drawingml/2006/main">
            <a:srgbClr val="F3F6F8"/>
          </a:solidFill>
          <a:ln xmlns:a="http://schemas.openxmlformats.org/drawingml/2006/main" w="9525">
            <a:solidFill>
              <a:srgbClr val="D9DEE5"/>
            </a:solidFill>
            <a:prstDash val="solid"/>
          </a:ln>
        </p:spPr>
      </p:sp>
      <p:sp>
        <p:nvSpPr>
          <p:cNvPr id="14" name="">
            <a:extLst xmlns:a="http://schemas.openxmlformats.org/drawingml/2006/main">
              <a:ext uri="{FF2B5EF4-FFF2-40B4-BE49-F238E27FC236}">
                <a16:creationId xmlns:a16="http://schemas.microsoft.com/office/drawing/2014/main" id="{C00EBF84-5C9A-49C4-AEEC-A23667725829}"/>
              </a:ext>
            </a:extLst>
          </p:cNvPr>
          <p:cNvSpPr>
            <a:spLocks xmlns:a="http://schemas.openxmlformats.org/drawingml/2006/main" noGrp="1"/>
          </p:cNvSpPr>
          <p:nvPr/>
        </p:nvSpPr>
        <p:spPr>
          <a:xfrm xmlns:a="http://schemas.openxmlformats.org/drawingml/2006/main">
            <a:off x="4267200" y="1619250"/>
            <a:ext cx="3333750" cy="85725"/>
          </a:xfrm>
          <a:prstGeom xmlns:a="http://schemas.openxmlformats.org/drawingml/2006/main" prst="rect">
            <a:avLst/>
          </a:prstGeom>
          <a:solidFill xmlns:a="http://schemas.openxmlformats.org/drawingml/2006/main">
            <a:srgbClr val="00A6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F03D93C-0EB5-422C-A580-E7065A2BA830}"/>
              </a:ext>
            </a:extLst>
          </p:cNvPr>
          <p:cNvSpPr>
            <a:spLocks xmlns:a="http://schemas.openxmlformats.org/drawingml/2006/main" noGrp="1"/>
          </p:cNvSpPr>
          <p:nvPr/>
        </p:nvSpPr>
        <p:spPr>
          <a:xfrm xmlns:a="http://schemas.openxmlformats.org/drawingml/2006/main">
            <a:off x="4495800" y="1952625"/>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0A6C7"/>
                </a:solidFill>
              </a:defRPr>
            </a:pPr>
            <a:r>
              <a:rPr sz="2850" b="1">
                <a:solidFill>
                  <a:srgbClr val="00A6C7"/>
                </a:solidFill>
              </a:rPr>
              <a:t>02</a:t>
            </a:r>
          </a:p>
        </p:txBody>
      </p:sp>
      <p:sp>
        <p:nvSpPr>
          <p:cNvPr id="16" name="">
            <a:extLst xmlns:a="http://schemas.openxmlformats.org/drawingml/2006/main">
              <a:ext uri="{FF2B5EF4-FFF2-40B4-BE49-F238E27FC236}">
                <a16:creationId xmlns:a16="http://schemas.microsoft.com/office/drawing/2014/main" id="{18DF6E82-1227-4178-901F-2BC7516666E1}"/>
              </a:ext>
            </a:extLst>
          </p:cNvPr>
          <p:cNvSpPr>
            <a:spLocks xmlns:a="http://schemas.openxmlformats.org/drawingml/2006/main" noGrp="1"/>
          </p:cNvSpPr>
          <p:nvPr/>
        </p:nvSpPr>
        <p:spPr>
          <a:xfrm xmlns:a="http://schemas.openxmlformats.org/drawingml/2006/main">
            <a:off x="4495800" y="25527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171A"/>
                </a:solidFill>
              </a:defRPr>
            </a:pPr>
            <a:r>
              <a:rPr sz="1950" b="1">
                <a:solidFill>
                  <a:srgbClr val="15171A"/>
                </a:solidFill>
              </a:rPr>
              <a:t>Mecanismos del SO</a:t>
            </a:r>
          </a:p>
        </p:txBody>
      </p:sp>
      <p:sp>
        <p:nvSpPr>
          <p:cNvPr id="17" name="">
            <a:extLst xmlns:a="http://schemas.openxmlformats.org/drawingml/2006/main">
              <a:ext uri="{FF2B5EF4-FFF2-40B4-BE49-F238E27FC236}">
                <a16:creationId xmlns:a16="http://schemas.microsoft.com/office/drawing/2014/main" id="{02CF541F-5E10-4D26-936D-EA4453E15658}"/>
              </a:ext>
            </a:extLst>
          </p:cNvPr>
          <p:cNvSpPr>
            <a:spLocks xmlns:a="http://schemas.openxmlformats.org/drawingml/2006/main" noGrp="1"/>
          </p:cNvSpPr>
          <p:nvPr/>
        </p:nvSpPr>
        <p:spPr>
          <a:xfrm xmlns:a="http://schemas.openxmlformats.org/drawingml/2006/main">
            <a:off x="4495800" y="3105150"/>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300A24"/>
                </a:solidFill>
              </a:defRPr>
            </a:pPr>
            <a:r>
              <a:rPr sz="1575" b="1">
                <a:solidFill>
                  <a:srgbClr val="300A24"/>
                </a:solidFill>
              </a:rPr>
              <a:t>threading + os</a:t>
            </a:r>
          </a:p>
        </p:txBody>
      </p:sp>
      <p:sp>
        <p:nvSpPr>
          <p:cNvPr id="18" name="">
            <a:extLst xmlns:a="http://schemas.openxmlformats.org/drawingml/2006/main">
              <a:ext uri="{FF2B5EF4-FFF2-40B4-BE49-F238E27FC236}">
                <a16:creationId xmlns:a16="http://schemas.microsoft.com/office/drawing/2014/main" id="{896BD23B-07A8-419F-B44B-FDB23199D97F}"/>
              </a:ext>
            </a:extLst>
          </p:cNvPr>
          <p:cNvSpPr>
            <a:spLocks xmlns:a="http://schemas.openxmlformats.org/drawingml/2006/main" noGrp="1"/>
          </p:cNvSpPr>
          <p:nvPr/>
        </p:nvSpPr>
        <p:spPr>
          <a:xfrm xmlns:a="http://schemas.openxmlformats.org/drawingml/2006/main">
            <a:off x="4495800" y="3733800"/>
            <a:ext cx="2876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Thread, fork(), pipe y waitpid coordinan tareas y el proceso hijo.</a:t>
            </a:r>
          </a:p>
        </p:txBody>
      </p:sp>
      <p:sp>
        <p:nvSpPr>
          <p:cNvPr id="19" name="">
            <a:extLst xmlns:a="http://schemas.openxmlformats.org/drawingml/2006/main">
              <a:ext uri="{FF2B5EF4-FFF2-40B4-BE49-F238E27FC236}">
                <a16:creationId xmlns:a16="http://schemas.microsoft.com/office/drawing/2014/main" id="{45B66E20-937A-4FBD-B391-A8CBE83ED505}"/>
              </a:ext>
            </a:extLst>
          </p:cNvPr>
          <p:cNvSpPr>
            <a:spLocks xmlns:a="http://schemas.openxmlformats.org/drawingml/2006/main" noGrp="1"/>
          </p:cNvSpPr>
          <p:nvPr/>
        </p:nvSpPr>
        <p:spPr>
          <a:xfrm xmlns:a="http://schemas.openxmlformats.org/drawingml/2006/main">
            <a:off x="4495800" y="4924425"/>
            <a:ext cx="287655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246F215-485A-4A85-982E-E4749E18D7B7}"/>
              </a:ext>
            </a:extLst>
          </p:cNvPr>
          <p:cNvSpPr>
            <a:spLocks xmlns:a="http://schemas.openxmlformats.org/drawingml/2006/main" noGrp="1"/>
          </p:cNvSpPr>
          <p:nvPr/>
        </p:nvSpPr>
        <p:spPr>
          <a:xfrm xmlns:a="http://schemas.openxmlformats.org/drawingml/2006/main">
            <a:off x="4495800" y="5095875"/>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00A6C7"/>
                </a:solidFill>
              </a:defRPr>
            </a:pPr>
            <a:r>
              <a:rPr sz="1050" b="1">
                <a:solidFill>
                  <a:srgbClr val="00A6C7"/>
                </a:solidFill>
              </a:rPr>
              <a:t>threading · os · subprocess · pathlib</a:t>
            </a:r>
          </a:p>
        </p:txBody>
      </p:sp>
      <p:sp>
        <p:nvSpPr>
          <p:cNvPr id="21" name="">
            <a:extLst xmlns:a="http://schemas.openxmlformats.org/drawingml/2006/main">
              <a:ext uri="{FF2B5EF4-FFF2-40B4-BE49-F238E27FC236}">
                <a16:creationId xmlns:a16="http://schemas.microsoft.com/office/drawing/2014/main" id="{1A08687C-B33E-4222-A314-DE379C0A6784}"/>
              </a:ext>
            </a:extLst>
          </p:cNvPr>
          <p:cNvSpPr>
            <a:spLocks xmlns:a="http://schemas.openxmlformats.org/drawingml/2006/main" noGrp="1"/>
          </p:cNvSpPr>
          <p:nvPr/>
        </p:nvSpPr>
        <p:spPr>
          <a:xfrm xmlns:a="http://schemas.openxmlformats.org/drawingml/2006/main">
            <a:off x="8039100" y="1619250"/>
            <a:ext cx="3333750" cy="4000500"/>
          </a:xfrm>
          <a:prstGeom xmlns:a="http://schemas.openxmlformats.org/drawingml/2006/main" prst="roundRect">
            <a:avLst>
              <a:gd name="adj" fmla="val 2286"/>
            </a:avLst>
          </a:prstGeom>
          <a:solidFill xmlns:a="http://schemas.openxmlformats.org/drawingml/2006/main">
            <a:srgbClr val="F3F6F8"/>
          </a:solidFill>
          <a:ln xmlns:a="http://schemas.openxmlformats.org/drawingml/2006/main" w="9525">
            <a:solidFill>
              <a:srgbClr val="D9DEE5"/>
            </a:solidFill>
            <a:prstDash val="solid"/>
          </a:ln>
        </p:spPr>
      </p:sp>
      <p:sp>
        <p:nvSpPr>
          <p:cNvPr id="22" name="">
            <a:extLst xmlns:a="http://schemas.openxmlformats.org/drawingml/2006/main">
              <a:ext uri="{FF2B5EF4-FFF2-40B4-BE49-F238E27FC236}">
                <a16:creationId xmlns:a16="http://schemas.microsoft.com/office/drawing/2014/main" id="{2AB037EE-A9F2-4ED6-A577-557943043F18}"/>
              </a:ext>
            </a:extLst>
          </p:cNvPr>
          <p:cNvSpPr>
            <a:spLocks xmlns:a="http://schemas.openxmlformats.org/drawingml/2006/main" noGrp="1"/>
          </p:cNvSpPr>
          <p:nvPr/>
        </p:nvSpPr>
        <p:spPr>
          <a:xfrm xmlns:a="http://schemas.openxmlformats.org/drawingml/2006/main">
            <a:off x="8039100" y="1619250"/>
            <a:ext cx="3333750" cy="85725"/>
          </a:xfrm>
          <a:prstGeom xmlns:a="http://schemas.openxmlformats.org/drawingml/2006/main" prst="rect">
            <a:avLst/>
          </a:prstGeom>
          <a:solidFill xmlns:a="http://schemas.openxmlformats.org/drawingml/2006/main">
            <a:srgbClr val="177A5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8C9038E-8EB4-450C-8DAF-30CAC754D56F}"/>
              </a:ext>
            </a:extLst>
          </p:cNvPr>
          <p:cNvSpPr>
            <a:spLocks xmlns:a="http://schemas.openxmlformats.org/drawingml/2006/main" noGrp="1"/>
          </p:cNvSpPr>
          <p:nvPr/>
        </p:nvSpPr>
        <p:spPr>
          <a:xfrm xmlns:a="http://schemas.openxmlformats.org/drawingml/2006/main">
            <a:off x="8267700" y="1952625"/>
            <a:ext cx="66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177A58"/>
                </a:solidFill>
              </a:defRPr>
            </a:pPr>
            <a:r>
              <a:rPr sz="2850" b="1">
                <a:solidFill>
                  <a:srgbClr val="177A58"/>
                </a:solidFill>
              </a:rPr>
              <a:t>03</a:t>
            </a:r>
          </a:p>
        </p:txBody>
      </p:sp>
      <p:sp>
        <p:nvSpPr>
          <p:cNvPr id="24" name="">
            <a:extLst xmlns:a="http://schemas.openxmlformats.org/drawingml/2006/main">
              <a:ext uri="{FF2B5EF4-FFF2-40B4-BE49-F238E27FC236}">
                <a16:creationId xmlns:a16="http://schemas.microsoft.com/office/drawing/2014/main" id="{DEE8BBA0-22AA-49DB-B8AC-FDEF49299B3A}"/>
              </a:ext>
            </a:extLst>
          </p:cNvPr>
          <p:cNvSpPr>
            <a:spLocks xmlns:a="http://schemas.openxmlformats.org/drawingml/2006/main" noGrp="1"/>
          </p:cNvSpPr>
          <p:nvPr/>
        </p:nvSpPr>
        <p:spPr>
          <a:xfrm xmlns:a="http://schemas.openxmlformats.org/drawingml/2006/main">
            <a:off x="8267700" y="2552700"/>
            <a:ext cx="2781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15171A"/>
                </a:solidFill>
              </a:defRPr>
            </a:pPr>
            <a:r>
              <a:rPr sz="1950" b="1">
                <a:solidFill>
                  <a:srgbClr val="15171A"/>
                </a:solidFill>
              </a:rPr>
              <a:t>Datos y calidad</a:t>
            </a:r>
          </a:p>
        </p:txBody>
      </p:sp>
      <p:sp>
        <p:nvSpPr>
          <p:cNvPr id="25" name="">
            <a:extLst xmlns:a="http://schemas.openxmlformats.org/drawingml/2006/main">
              <a:ext uri="{FF2B5EF4-FFF2-40B4-BE49-F238E27FC236}">
                <a16:creationId xmlns:a16="http://schemas.microsoft.com/office/drawing/2014/main" id="{A31CE078-B025-4BE4-9E2F-344EBED421F2}"/>
              </a:ext>
            </a:extLst>
          </p:cNvPr>
          <p:cNvSpPr>
            <a:spLocks xmlns:a="http://schemas.openxmlformats.org/drawingml/2006/main" noGrp="1"/>
          </p:cNvSpPr>
          <p:nvPr/>
        </p:nvSpPr>
        <p:spPr>
          <a:xfrm xmlns:a="http://schemas.openxmlformats.org/drawingml/2006/main">
            <a:off x="8267700" y="3105150"/>
            <a:ext cx="2876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300A24"/>
                </a:solidFill>
              </a:defRPr>
            </a:pPr>
            <a:r>
              <a:rPr sz="1575" b="1">
                <a:solidFill>
                  <a:srgbClr val="300A24"/>
                </a:solidFill>
              </a:rPr>
              <a:t>SQLite + unittest</a:t>
            </a:r>
          </a:p>
        </p:txBody>
      </p:sp>
      <p:sp>
        <p:nvSpPr>
          <p:cNvPr id="26" name="">
            <a:extLst xmlns:a="http://schemas.openxmlformats.org/drawingml/2006/main">
              <a:ext uri="{FF2B5EF4-FFF2-40B4-BE49-F238E27FC236}">
                <a16:creationId xmlns:a16="http://schemas.microsoft.com/office/drawing/2014/main" id="{E1092927-3E25-4749-9292-C8B8222DADEC}"/>
              </a:ext>
            </a:extLst>
          </p:cNvPr>
          <p:cNvSpPr>
            <a:spLocks xmlns:a="http://schemas.openxmlformats.org/drawingml/2006/main" noGrp="1"/>
          </p:cNvSpPr>
          <p:nvPr/>
        </p:nvSpPr>
        <p:spPr>
          <a:xfrm xmlns:a="http://schemas.openxmlformats.org/drawingml/2006/main">
            <a:off x="8267700" y="3733800"/>
            <a:ext cx="28765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CRUD transaccional y pruebas automatizadas sin dependencias externas.</a:t>
            </a:r>
          </a:p>
        </p:txBody>
      </p:sp>
      <p:sp>
        <p:nvSpPr>
          <p:cNvPr id="27" name="">
            <a:extLst xmlns:a="http://schemas.openxmlformats.org/drawingml/2006/main">
              <a:ext uri="{FF2B5EF4-FFF2-40B4-BE49-F238E27FC236}">
                <a16:creationId xmlns:a16="http://schemas.microsoft.com/office/drawing/2014/main" id="{DAFE3CC0-C95F-46CE-BC4C-4DA93ED716A9}"/>
              </a:ext>
            </a:extLst>
          </p:cNvPr>
          <p:cNvSpPr>
            <a:spLocks xmlns:a="http://schemas.openxmlformats.org/drawingml/2006/main" noGrp="1"/>
          </p:cNvSpPr>
          <p:nvPr/>
        </p:nvSpPr>
        <p:spPr>
          <a:xfrm xmlns:a="http://schemas.openxmlformats.org/drawingml/2006/main">
            <a:off x="8267700" y="4924425"/>
            <a:ext cx="2876550" cy="9525"/>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AB479A3-2278-4A0E-ACC6-7574AD6AF989}"/>
              </a:ext>
            </a:extLst>
          </p:cNvPr>
          <p:cNvSpPr>
            <a:spLocks xmlns:a="http://schemas.openxmlformats.org/drawingml/2006/main" noGrp="1"/>
          </p:cNvSpPr>
          <p:nvPr/>
        </p:nvSpPr>
        <p:spPr>
          <a:xfrm xmlns:a="http://schemas.openxmlformats.org/drawingml/2006/main">
            <a:off x="8267700" y="5095875"/>
            <a:ext cx="28765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050" b="1">
                <a:solidFill>
                  <a:srgbClr val="177A58"/>
                </a:solidFill>
              </a:defRPr>
            </a:pPr>
            <a:r>
              <a:rPr sz="1050" b="1">
                <a:solidFill>
                  <a:srgbClr val="177A58"/>
                </a:solidFill>
              </a:rPr>
              <a:t>sqlite3 · unittest · Git + GitHub</a:t>
            </a:r>
          </a:p>
        </p:txBody>
      </p:sp>
      <p:sp>
        <p:nvSpPr>
          <p:cNvPr id="29" name="">
            <a:extLst xmlns:a="http://schemas.openxmlformats.org/drawingml/2006/main">
              <a:ext uri="{FF2B5EF4-FFF2-40B4-BE49-F238E27FC236}">
                <a16:creationId xmlns:a16="http://schemas.microsoft.com/office/drawing/2014/main" id="{4DEC129A-0FBF-4AD3-9619-2EE244FDC412}"/>
              </a:ext>
            </a:extLst>
          </p:cNvPr>
          <p:cNvSpPr>
            <a:spLocks xmlns:a="http://schemas.openxmlformats.org/drawingml/2006/main" noGrp="1"/>
          </p:cNvSpPr>
          <p:nvPr/>
        </p:nvSpPr>
        <p:spPr>
          <a:xfrm xmlns:a="http://schemas.openxmlformats.org/drawingml/2006/main">
            <a:off x="495300" y="5924550"/>
            <a:ext cx="10877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5171A"/>
                </a:solidFill>
              </a:defRPr>
            </a:pPr>
            <a:r>
              <a:rPr sz="1350" b="1">
                <a:solidFill>
                  <a:srgbClr val="15171A"/>
                </a:solidFill>
              </a:rPr>
              <a:t>Entornos: WSL 2 y Ubuntu VM  |  Versionado: Git + GitHub  |  Sin librerías externas</a:t>
            </a:r>
          </a:p>
        </p:txBody>
      </p:sp>
      <p:sp>
        <p:nvSpPr>
          <p:cNvPr id="30" name="">
            <a:extLst xmlns:a="http://schemas.openxmlformats.org/drawingml/2006/main">
              <a:ext uri="{FF2B5EF4-FFF2-40B4-BE49-F238E27FC236}">
                <a16:creationId xmlns:a16="http://schemas.microsoft.com/office/drawing/2014/main" id="{3B3FD870-7C1F-4FF8-B9A3-2FE3FD852C93}"/>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31" name="">
            <a:extLst xmlns:a="http://schemas.openxmlformats.org/drawingml/2006/main">
              <a:ext uri="{FF2B5EF4-FFF2-40B4-BE49-F238E27FC236}">
                <a16:creationId xmlns:a16="http://schemas.microsoft.com/office/drawing/2014/main" id="{DC6DBDDD-0C08-4E96-81A9-7180B3C080FA}"/>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5 / 7</a:t>
            </a:r>
          </a:p>
        </p:txBody>
      </p:sp>
    </p:spTree>
    <p:extLst>
      <p:ext uri="{BB962C8B-B14F-4D97-AF65-F5344CB8AC3E}">
        <p14:creationId xmlns:p14="http://schemas.microsoft.com/office/powerpoint/2010/main" val="112482836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25B6DDF2-F303-4408-A1F9-76052C7CB65F}"/>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EVIDENCIA EN UBUNTU</a:t>
            </a:r>
          </a:p>
        </p:txBody>
      </p:sp>
      <p:sp>
        <p:nvSpPr>
          <p:cNvPr id="2" name="">
            <a:extLst xmlns:a="http://schemas.openxmlformats.org/drawingml/2006/main">
              <a:ext uri="{FF2B5EF4-FFF2-40B4-BE49-F238E27FC236}">
                <a16:creationId xmlns:a16="http://schemas.microsoft.com/office/drawing/2014/main" id="{84B6B03B-31F7-4DCC-80E6-A52A4C5072CA}"/>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El estado general integra los seis módulos de monitoreo</a:t>
            </a:r>
          </a:p>
        </p:txBody>
      </p:sp>
      <p:sp>
        <p:nvSpPr>
          <p:cNvPr id="3" name="">
            <a:extLst xmlns:a="http://schemas.openxmlformats.org/drawingml/2006/main">
              <a:ext uri="{FF2B5EF4-FFF2-40B4-BE49-F238E27FC236}">
                <a16:creationId xmlns:a16="http://schemas.microsoft.com/office/drawing/2014/main" id="{95007A28-6839-4868-8F1B-5C38CC467FF8}"/>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26B3C84-36CF-4521-9B5E-45E41FCB7C3F}"/>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06</a:t>
            </a:r>
          </a:p>
        </p:txBody>
      </p:sp>
      <p:sp>
        <p:nvSpPr>
          <p:cNvPr id="5" name="">
            <a:extLst xmlns:a="http://schemas.openxmlformats.org/drawingml/2006/main">
              <a:ext uri="{FF2B5EF4-FFF2-40B4-BE49-F238E27FC236}">
                <a16:creationId xmlns:a16="http://schemas.microsoft.com/office/drawing/2014/main" id="{9DF87CA4-7D51-43CE-8909-E0278CF43FFC}"/>
              </a:ext>
            </a:extLst>
          </p:cNvPr>
          <p:cNvSpPr>
            <a:spLocks xmlns:a="http://schemas.openxmlformats.org/drawingml/2006/main" noGrp="1"/>
          </p:cNvSpPr>
          <p:nvPr/>
        </p:nvSpPr>
        <p:spPr>
          <a:xfrm xmlns:a="http://schemas.openxmlformats.org/drawingml/2006/main">
            <a:off x="495300" y="1562100"/>
            <a:ext cx="3333750" cy="4171950"/>
          </a:xfrm>
          <a:prstGeom xmlns:a="http://schemas.openxmlformats.org/drawingml/2006/main" prst="roundRect">
            <a:avLst>
              <a:gd name="adj" fmla="val 2286"/>
            </a:avLst>
          </a:prstGeom>
          <a:solidFill xmlns:a="http://schemas.openxmlformats.org/drawingml/2006/main">
            <a:srgbClr val="300A24"/>
          </a:solidFill>
          <a:ln xmlns:a="http://schemas.openxmlformats.org/drawingml/2006/main" w="9525">
            <a:solidFill>
              <a:srgbClr val="300A24"/>
            </a:solidFill>
            <a:prstDash val="solid"/>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151a064d67b4e7b"/>
          <a:stretch xmlns:a="http://schemas.openxmlformats.org/drawingml/2006/main"/>
        </p:blipFill>
        <p:spPr>
          <a:xfrm xmlns:a="http://schemas.openxmlformats.org/drawingml/2006/main">
            <a:off x="571500" y="2522944"/>
            <a:ext cx="3181350" cy="2174062"/>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AA9CC952-6E83-427E-B775-972B5B3F5571}"/>
              </a:ext>
            </a:extLst>
          </p:cNvPr>
          <p:cNvSpPr>
            <a:spLocks xmlns:a="http://schemas.openxmlformats.org/drawingml/2006/main" noGrp="1"/>
          </p:cNvSpPr>
          <p:nvPr/>
        </p:nvSpPr>
        <p:spPr>
          <a:xfrm xmlns:a="http://schemas.openxmlformats.org/drawingml/2006/main">
            <a:off x="495300" y="5848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5171A"/>
                </a:solidFill>
              </a:defRPr>
            </a:pPr>
            <a:r>
              <a:rPr sz="1350" b="1">
                <a:solidFill>
                  <a:srgbClr val="15171A"/>
                </a:solidFill>
              </a:rPr>
              <a:t>CPU + memoria</a:t>
            </a:r>
          </a:p>
        </p:txBody>
      </p:sp>
      <p:sp>
        <p:nvSpPr>
          <p:cNvPr id="8" name="">
            <a:extLst xmlns:a="http://schemas.openxmlformats.org/drawingml/2006/main">
              <a:ext uri="{FF2B5EF4-FFF2-40B4-BE49-F238E27FC236}">
                <a16:creationId xmlns:a16="http://schemas.microsoft.com/office/drawing/2014/main" id="{9826A7D0-A96E-4B59-A07E-FD0F65296AE3}"/>
              </a:ext>
            </a:extLst>
          </p:cNvPr>
          <p:cNvSpPr>
            <a:spLocks xmlns:a="http://schemas.openxmlformats.org/drawingml/2006/main" noGrp="1"/>
          </p:cNvSpPr>
          <p:nvPr/>
        </p:nvSpPr>
        <p:spPr>
          <a:xfrm xmlns:a="http://schemas.openxmlformats.org/drawingml/2006/main">
            <a:off x="4267200" y="1562100"/>
            <a:ext cx="3333750" cy="4171950"/>
          </a:xfrm>
          <a:prstGeom xmlns:a="http://schemas.openxmlformats.org/drawingml/2006/main" prst="roundRect">
            <a:avLst>
              <a:gd name="adj" fmla="val 2286"/>
            </a:avLst>
          </a:prstGeom>
          <a:solidFill xmlns:a="http://schemas.openxmlformats.org/drawingml/2006/main">
            <a:srgbClr val="300A24"/>
          </a:solidFill>
          <a:ln xmlns:a="http://schemas.openxmlformats.org/drawingml/2006/main" w="9525">
            <a:solidFill>
              <a:srgbClr val="300A24"/>
            </a:solidFill>
            <a:prstDash val="solid"/>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bf75d90bd2714c34"/>
          <a:stretch xmlns:a="http://schemas.openxmlformats.org/drawingml/2006/main"/>
        </p:blipFill>
        <p:spPr>
          <a:xfrm xmlns:a="http://schemas.openxmlformats.org/drawingml/2006/main">
            <a:off x="4343400" y="2909265"/>
            <a:ext cx="3181350" cy="1401421"/>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15438996-FA5E-441D-B39D-D7E83C38F62A}"/>
              </a:ext>
            </a:extLst>
          </p:cNvPr>
          <p:cNvSpPr>
            <a:spLocks xmlns:a="http://schemas.openxmlformats.org/drawingml/2006/main" noGrp="1"/>
          </p:cNvSpPr>
          <p:nvPr/>
        </p:nvSpPr>
        <p:spPr>
          <a:xfrm xmlns:a="http://schemas.openxmlformats.org/drawingml/2006/main">
            <a:off x="4267200" y="5848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5171A"/>
                </a:solidFill>
              </a:defRPr>
            </a:pPr>
            <a:r>
              <a:rPr sz="1350" b="1">
                <a:solidFill>
                  <a:srgbClr val="15171A"/>
                </a:solidFill>
              </a:rPr>
              <a:t>Disco + red</a:t>
            </a:r>
          </a:p>
        </p:txBody>
      </p:sp>
      <p:sp>
        <p:nvSpPr>
          <p:cNvPr id="11" name="">
            <a:extLst xmlns:a="http://schemas.openxmlformats.org/drawingml/2006/main">
              <a:ext uri="{FF2B5EF4-FFF2-40B4-BE49-F238E27FC236}">
                <a16:creationId xmlns:a16="http://schemas.microsoft.com/office/drawing/2014/main" id="{1E5022D2-0C82-4F19-8097-C2CB9F7F0A9A}"/>
              </a:ext>
            </a:extLst>
          </p:cNvPr>
          <p:cNvSpPr>
            <a:spLocks xmlns:a="http://schemas.openxmlformats.org/drawingml/2006/main" noGrp="1"/>
          </p:cNvSpPr>
          <p:nvPr/>
        </p:nvSpPr>
        <p:spPr>
          <a:xfrm xmlns:a="http://schemas.openxmlformats.org/drawingml/2006/main">
            <a:off x="8039100" y="1562100"/>
            <a:ext cx="3333750" cy="4171950"/>
          </a:xfrm>
          <a:prstGeom xmlns:a="http://schemas.openxmlformats.org/drawingml/2006/main" prst="roundRect">
            <a:avLst>
              <a:gd name="adj" fmla="val 2286"/>
            </a:avLst>
          </a:prstGeom>
          <a:solidFill xmlns:a="http://schemas.openxmlformats.org/drawingml/2006/main">
            <a:srgbClr val="300A24"/>
          </a:solidFill>
          <a:ln xmlns:a="http://schemas.openxmlformats.org/drawingml/2006/main" w="9525">
            <a:solidFill>
              <a:srgbClr val="300A24"/>
            </a:solidFill>
            <a:prstDash val="solid"/>
          </a:ln>
        </p:spPr>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0fa38fecb174543"/>
          <a:stretch xmlns:a="http://schemas.openxmlformats.org/drawingml/2006/main"/>
        </p:blipFill>
        <p:spPr>
          <a:xfrm xmlns:a="http://schemas.openxmlformats.org/drawingml/2006/main">
            <a:off x="8115300" y="1958036"/>
            <a:ext cx="3181350" cy="3303878"/>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4DAF7237-E947-42D2-A7F5-CD188BC15E08}"/>
              </a:ext>
            </a:extLst>
          </p:cNvPr>
          <p:cNvSpPr>
            <a:spLocks xmlns:a="http://schemas.openxmlformats.org/drawingml/2006/main" noGrp="1"/>
          </p:cNvSpPr>
          <p:nvPr/>
        </p:nvSpPr>
        <p:spPr>
          <a:xfrm xmlns:a="http://schemas.openxmlformats.org/drawingml/2006/main">
            <a:off x="8039100" y="58483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5171A"/>
                </a:solidFill>
              </a:defRPr>
            </a:pPr>
            <a:r>
              <a:rPr sz="1350" b="1">
                <a:solidFill>
                  <a:srgbClr val="15171A"/>
                </a:solidFill>
              </a:rPr>
              <a:t>Procesos + usuarios</a:t>
            </a:r>
          </a:p>
        </p:txBody>
      </p:sp>
      <p:sp>
        <p:nvSpPr>
          <p:cNvPr id="14" name="">
            <a:extLst xmlns:a="http://schemas.openxmlformats.org/drawingml/2006/main">
              <a:ext uri="{FF2B5EF4-FFF2-40B4-BE49-F238E27FC236}">
                <a16:creationId xmlns:a16="http://schemas.microsoft.com/office/drawing/2014/main" id="{3CA06322-7306-4B98-9509-66B918D00605}"/>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15" name="">
            <a:extLst xmlns:a="http://schemas.openxmlformats.org/drawingml/2006/main">
              <a:ext uri="{FF2B5EF4-FFF2-40B4-BE49-F238E27FC236}">
                <a16:creationId xmlns:a16="http://schemas.microsoft.com/office/drawing/2014/main" id="{26B9B952-78DC-45CB-A182-A825B9C24B75}"/>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6 / 7</a:t>
            </a:r>
          </a:p>
        </p:txBody>
      </p:sp>
    </p:spTree>
    <p:extLst>
      <p:ext uri="{BB962C8B-B14F-4D97-AF65-F5344CB8AC3E}">
        <p14:creationId xmlns:p14="http://schemas.microsoft.com/office/powerpoint/2010/main" val="13520402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F6B9BAA7-2CD3-419F-B960-539E49903963}"/>
              </a:ext>
            </a:extLst>
          </p:cNvPr>
          <p:cNvSpPr>
            <a:spLocks xmlns:a="http://schemas.openxmlformats.org/drawingml/2006/main" noGrp="1"/>
          </p:cNvSpPr>
          <p:nvPr/>
        </p:nvSpPr>
        <p:spPr>
          <a:xfrm xmlns:a="http://schemas.openxmlformats.org/drawingml/2006/main">
            <a:off x="495300" y="33337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900" b="1">
                <a:solidFill>
                  <a:srgbClr val="1368D4"/>
                </a:solidFill>
              </a:defRPr>
            </a:pPr>
            <a:r>
              <a:rPr sz="900" b="1">
                <a:solidFill>
                  <a:srgbClr val="1368D4"/>
                </a:solidFill>
              </a:rPr>
              <a:t>PRUEBAS Y RESULTADOS</a:t>
            </a:r>
          </a:p>
        </p:txBody>
      </p:sp>
      <p:sp>
        <p:nvSpPr>
          <p:cNvPr id="2" name="">
            <a:extLst xmlns:a="http://schemas.openxmlformats.org/drawingml/2006/main">
              <a:ext uri="{FF2B5EF4-FFF2-40B4-BE49-F238E27FC236}">
                <a16:creationId xmlns:a16="http://schemas.microsoft.com/office/drawing/2014/main" id="{E71750CC-761B-4FD6-A524-414CC6719003}"/>
              </a:ext>
            </a:extLst>
          </p:cNvPr>
          <p:cNvSpPr>
            <a:spLocks xmlns:a="http://schemas.openxmlformats.org/drawingml/2006/main" noGrp="1"/>
          </p:cNvSpPr>
          <p:nvPr/>
        </p:nvSpPr>
        <p:spPr>
          <a:xfrm xmlns:a="http://schemas.openxmlformats.org/drawingml/2006/main">
            <a:off x="495300" y="619125"/>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75" b="1">
                <a:solidFill>
                  <a:srgbClr val="15171A"/>
                </a:solidFill>
              </a:defRPr>
            </a:pPr>
            <a:r>
              <a:rPr sz="2775" b="1">
                <a:solidFill>
                  <a:srgbClr val="15171A"/>
                </a:solidFill>
              </a:rPr>
              <a:t>Dos entornos validaron el mismo flujo</a:t>
            </a:r>
          </a:p>
        </p:txBody>
      </p:sp>
      <p:sp>
        <p:nvSpPr>
          <p:cNvPr id="3" name="">
            <a:extLst xmlns:a="http://schemas.openxmlformats.org/drawingml/2006/main">
              <a:ext uri="{FF2B5EF4-FFF2-40B4-BE49-F238E27FC236}">
                <a16:creationId xmlns:a16="http://schemas.microsoft.com/office/drawing/2014/main" id="{EC529A73-9FFD-4E6C-B1E4-59471B641384}"/>
              </a:ext>
            </a:extLst>
          </p:cNvPr>
          <p:cNvSpPr>
            <a:spLocks xmlns:a="http://schemas.openxmlformats.org/drawingml/2006/main" noGrp="1"/>
          </p:cNvSpPr>
          <p:nvPr/>
        </p:nvSpPr>
        <p:spPr>
          <a:xfrm xmlns:a="http://schemas.openxmlformats.org/drawingml/2006/main">
            <a:off x="495300" y="1257300"/>
            <a:ext cx="11201400" cy="19050"/>
          </a:xfrm>
          <a:prstGeom xmlns:a="http://schemas.openxmlformats.org/drawingml/2006/main" prst="rect">
            <a:avLst/>
          </a:prstGeom>
          <a:solidFill xmlns:a="http://schemas.openxmlformats.org/drawingml/2006/main">
            <a:srgbClr val="D9DEE5"/>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BD48E7-8BBE-4B9C-A478-A866BCD2A680}"/>
              </a:ext>
            </a:extLst>
          </p:cNvPr>
          <p:cNvSpPr>
            <a:spLocks xmlns:a="http://schemas.openxmlformats.org/drawingml/2006/main" noGrp="1"/>
          </p:cNvSpPr>
          <p:nvPr/>
        </p:nvSpPr>
        <p:spPr>
          <a:xfrm xmlns:a="http://schemas.openxmlformats.org/drawingml/2006/main">
            <a:off x="11144250" y="333375"/>
            <a:ext cx="55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1">
                <a:solidFill>
                  <a:srgbClr val="5F6670"/>
                </a:solidFill>
              </a:defRPr>
            </a:pPr>
            <a:r>
              <a:rPr sz="900" b="1">
                <a:solidFill>
                  <a:srgbClr val="5F6670"/>
                </a:solidFill>
              </a:rPr>
              <a:t>07</a:t>
            </a:r>
          </a:p>
        </p:txBody>
      </p:sp>
      <p:sp>
        <p:nvSpPr>
          <p:cNvPr id="5" name="">
            <a:extLst xmlns:a="http://schemas.openxmlformats.org/drawingml/2006/main">
              <a:ext uri="{FF2B5EF4-FFF2-40B4-BE49-F238E27FC236}">
                <a16:creationId xmlns:a16="http://schemas.microsoft.com/office/drawing/2014/main" id="{EAE22FDB-4487-4BB5-AEF8-8816556D044E}"/>
              </a:ext>
            </a:extLst>
          </p:cNvPr>
          <p:cNvSpPr>
            <a:spLocks xmlns:a="http://schemas.openxmlformats.org/drawingml/2006/main" noGrp="1"/>
          </p:cNvSpPr>
          <p:nvPr/>
        </p:nvSpPr>
        <p:spPr>
          <a:xfrm xmlns:a="http://schemas.openxmlformats.org/drawingml/2006/main">
            <a:off x="495300" y="1524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368D4"/>
                </a:solidFill>
              </a:defRPr>
            </a:pPr>
            <a:r>
              <a:rPr sz="1875" b="1">
                <a:solidFill>
                  <a:srgbClr val="1368D4"/>
                </a:solidFill>
              </a:rPr>
              <a:t>WSL 2 · Ubuntu</a:t>
            </a:r>
          </a:p>
        </p:txBody>
      </p:sp>
      <p:sp>
        <p:nvSpPr>
          <p:cNvPr id="6" name="">
            <a:extLst xmlns:a="http://schemas.openxmlformats.org/drawingml/2006/main">
              <a:ext uri="{FF2B5EF4-FFF2-40B4-BE49-F238E27FC236}">
                <a16:creationId xmlns:a16="http://schemas.microsoft.com/office/drawing/2014/main" id="{CA5D7CC1-BE67-410F-9348-51CA89BCA0E7}"/>
              </a:ext>
            </a:extLst>
          </p:cNvPr>
          <p:cNvSpPr>
            <a:spLocks xmlns:a="http://schemas.openxmlformats.org/drawingml/2006/main" noGrp="1"/>
          </p:cNvSpPr>
          <p:nvPr/>
        </p:nvSpPr>
        <p:spPr>
          <a:xfrm xmlns:a="http://schemas.openxmlformats.org/drawingml/2006/main">
            <a:off x="495300" y="18859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Pruebas automatizadas</a:t>
            </a:r>
          </a:p>
        </p:txBody>
      </p:sp>
      <p:sp>
        <p:nvSpPr>
          <p:cNvPr id="7" name="">
            <a:extLst xmlns:a="http://schemas.openxmlformats.org/drawingml/2006/main">
              <a:ext uri="{FF2B5EF4-FFF2-40B4-BE49-F238E27FC236}">
                <a16:creationId xmlns:a16="http://schemas.microsoft.com/office/drawing/2014/main" id="{6C8D12DD-02E7-4649-A179-8469A696C5E7}"/>
              </a:ext>
            </a:extLst>
          </p:cNvPr>
          <p:cNvSpPr>
            <a:spLocks xmlns:a="http://schemas.openxmlformats.org/drawingml/2006/main" noGrp="1"/>
          </p:cNvSpPr>
          <p:nvPr/>
        </p:nvSpPr>
        <p:spPr>
          <a:xfrm xmlns:a="http://schemas.openxmlformats.org/drawingml/2006/main">
            <a:off x="495300" y="2266950"/>
            <a:ext cx="4857750" cy="2038350"/>
          </a:xfrm>
          <a:prstGeom xmlns:a="http://schemas.openxmlformats.org/drawingml/2006/main" prst="roundRect">
            <a:avLst>
              <a:gd name="adj" fmla="val 3738"/>
            </a:avLst>
          </a:prstGeom>
          <a:solidFill xmlns:a="http://schemas.openxmlformats.org/drawingml/2006/main">
            <a:srgbClr val="0B0C0E"/>
          </a:solidFill>
          <a:ln xmlns:a="http://schemas.openxmlformats.org/drawingml/2006/main" w="9525">
            <a:solidFill>
              <a:srgbClr val="0B0C0E"/>
            </a:solidFill>
            <a:prstDash val="solid"/>
          </a:ln>
        </p:spPr>
      </p:sp>
      <p:sp>
        <p:nvSpPr>
          <p:cNvPr id="8" name="">
            <a:extLst xmlns:a="http://schemas.openxmlformats.org/drawingml/2006/main">
              <a:ext uri="{FF2B5EF4-FFF2-40B4-BE49-F238E27FC236}">
                <a16:creationId xmlns:a16="http://schemas.microsoft.com/office/drawing/2014/main" id="{54C3C2F2-3F17-44DE-A4D7-5E705901BED4}"/>
              </a:ext>
            </a:extLst>
          </p:cNvPr>
          <p:cNvSpPr>
            <a:spLocks xmlns:a="http://schemas.openxmlformats.org/drawingml/2006/main" noGrp="1"/>
          </p:cNvSpPr>
          <p:nvPr/>
        </p:nvSpPr>
        <p:spPr>
          <a:xfrm xmlns:a="http://schemas.openxmlformats.org/drawingml/2006/main">
            <a:off x="723900" y="2505075"/>
            <a:ext cx="44005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FFFFFF"/>
                </a:solidFill>
              </a:defRPr>
            </a:pPr>
            <a:r>
              <a:rPr sz="1275" b="0">
                <a:solidFill>
                  <a:srgbClr val="FFFFFF"/>
                </a:solidFill>
              </a:rPr>
              <a:t>$ python3 -m unittest discover -s tests</a:t>
            </a:r>
          </a:p>
          <a:p xmlns:a="http://schemas.openxmlformats.org/drawingml/2006/main">
            <a:pPr algn="l">
              <a:buNone/>
              <a:defRPr sz="1275" b="0">
                <a:solidFill>
                  <a:srgbClr val="FFFFFF"/>
                </a:solidFill>
              </a:defRPr>
            </a:pPr>
            <a:r>
              <a:rPr sz="1275" b="0">
                <a:solidFill>
                  <a:srgbClr val="FFFFFF"/>
                </a:solidFill>
              </a:rPr>
              <a:t>.......................................................................</a:t>
            </a:r>
          </a:p>
          <a:p xmlns:a="http://schemas.openxmlformats.org/drawingml/2006/main">
            <a:pPr algn="l">
              <a:buNone/>
              <a:defRPr sz="1275" b="0">
                <a:solidFill>
                  <a:srgbClr val="FFFFFF"/>
                </a:solidFill>
              </a:defRPr>
            </a:pPr>
            <a:r>
              <a:rPr sz="1275" b="0">
                <a:solidFill>
                  <a:srgbClr val="FFFFFF"/>
                </a:solidFill>
              </a:rPr>
              <a:t>Ran 71 tests in 0.747s</a:t>
            </a:r>
          </a:p>
          <a:p xmlns:a="http://schemas.openxmlformats.org/drawingml/2006/main">
            <a:r>
              <a:t/>
            </a:r>
          </a:p>
          <a:p xmlns:a="http://schemas.openxmlformats.org/drawingml/2006/main">
            <a:pPr algn="l">
              <a:buNone/>
              <a:defRPr sz="1275" b="0">
                <a:solidFill>
                  <a:srgbClr val="FFFFFF"/>
                </a:solidFill>
              </a:defRPr>
            </a:pPr>
            <a:r>
              <a:rPr sz="1275" b="0">
                <a:solidFill>
                  <a:srgbClr val="FFFFFF"/>
                </a:solidFill>
              </a:rPr>
              <a:t>OK</a:t>
            </a:r>
          </a:p>
        </p:txBody>
      </p:sp>
      <p:sp>
        <p:nvSpPr>
          <p:cNvPr id="9" name="">
            <a:extLst xmlns:a="http://schemas.openxmlformats.org/drawingml/2006/main">
              <a:ext uri="{FF2B5EF4-FFF2-40B4-BE49-F238E27FC236}">
                <a16:creationId xmlns:a16="http://schemas.microsoft.com/office/drawing/2014/main" id="{8DCFFEDD-B0AE-4F67-8021-0CAB49C877BE}"/>
              </a:ext>
            </a:extLst>
          </p:cNvPr>
          <p:cNvSpPr>
            <a:spLocks xmlns:a="http://schemas.openxmlformats.org/drawingml/2006/main" noGrp="1"/>
          </p:cNvSpPr>
          <p:nvPr/>
        </p:nvSpPr>
        <p:spPr>
          <a:xfrm xmlns:a="http://schemas.openxmlformats.org/drawingml/2006/main">
            <a:off x="495300" y="4533900"/>
            <a:ext cx="1257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600" b="1">
                <a:solidFill>
                  <a:srgbClr val="1368D4"/>
                </a:solidFill>
              </a:defRPr>
            </a:pPr>
            <a:r>
              <a:rPr sz="3600" b="1">
                <a:solidFill>
                  <a:srgbClr val="1368D4"/>
                </a:solidFill>
              </a:rPr>
              <a:t>71</a:t>
            </a:r>
          </a:p>
        </p:txBody>
      </p:sp>
      <p:sp>
        <p:nvSpPr>
          <p:cNvPr id="10" name="">
            <a:extLst xmlns:a="http://schemas.openxmlformats.org/drawingml/2006/main">
              <a:ext uri="{FF2B5EF4-FFF2-40B4-BE49-F238E27FC236}">
                <a16:creationId xmlns:a16="http://schemas.microsoft.com/office/drawing/2014/main" id="{AF005820-DE1B-4074-A1DC-AF146678CDC5}"/>
              </a:ext>
            </a:extLst>
          </p:cNvPr>
          <p:cNvSpPr>
            <a:spLocks xmlns:a="http://schemas.openxmlformats.org/drawingml/2006/main" noGrp="1"/>
          </p:cNvSpPr>
          <p:nvPr/>
        </p:nvSpPr>
        <p:spPr>
          <a:xfrm xmlns:a="http://schemas.openxmlformats.org/drawingml/2006/main">
            <a:off x="1638300" y="468630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15171A"/>
                </a:solidFill>
              </a:defRPr>
            </a:pPr>
            <a:r>
              <a:rPr sz="1425" b="1">
                <a:solidFill>
                  <a:srgbClr val="15171A"/>
                </a:solidFill>
              </a:rPr>
              <a:t>pruebas</a:t>
            </a:r>
          </a:p>
        </p:txBody>
      </p:sp>
      <p:sp>
        <p:nvSpPr>
          <p:cNvPr id="11" name="">
            <a:extLst xmlns:a="http://schemas.openxmlformats.org/drawingml/2006/main">
              <a:ext uri="{FF2B5EF4-FFF2-40B4-BE49-F238E27FC236}">
                <a16:creationId xmlns:a16="http://schemas.microsoft.com/office/drawing/2014/main" id="{AA221B04-35E7-45AD-B71C-3C1C47D0E952}"/>
              </a:ext>
            </a:extLst>
          </p:cNvPr>
          <p:cNvSpPr>
            <a:spLocks xmlns:a="http://schemas.openxmlformats.org/drawingml/2006/main" noGrp="1"/>
          </p:cNvSpPr>
          <p:nvPr/>
        </p:nvSpPr>
        <p:spPr>
          <a:xfrm xmlns:a="http://schemas.openxmlformats.org/drawingml/2006/main">
            <a:off x="495300" y="51435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5F6670"/>
                </a:solidFill>
              </a:defRPr>
            </a:pPr>
            <a:r>
              <a:rPr sz="1350" b="0">
                <a:solidFill>
                  <a:srgbClr val="5F6670"/>
                </a:solidFill>
              </a:rPr>
              <a:t>0 fallos · 0 omitidas</a:t>
            </a:r>
          </a:p>
        </p:txBody>
      </p:sp>
      <p:sp>
        <p:nvSpPr>
          <p:cNvPr id="12" name="">
            <a:extLst xmlns:a="http://schemas.openxmlformats.org/drawingml/2006/main">
              <a:ext uri="{FF2B5EF4-FFF2-40B4-BE49-F238E27FC236}">
                <a16:creationId xmlns:a16="http://schemas.microsoft.com/office/drawing/2014/main" id="{53A4404F-B6CF-40BE-BA17-BE0BB4440ED9}"/>
              </a:ext>
            </a:extLst>
          </p:cNvPr>
          <p:cNvSpPr>
            <a:spLocks xmlns:a="http://schemas.openxmlformats.org/drawingml/2006/main" noGrp="1"/>
          </p:cNvSpPr>
          <p:nvPr/>
        </p:nvSpPr>
        <p:spPr>
          <a:xfrm xmlns:a="http://schemas.openxmlformats.org/drawingml/2006/main">
            <a:off x="495300" y="5524500"/>
            <a:ext cx="485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0">
                <a:solidFill>
                  <a:srgbClr val="15171A"/>
                </a:solidFill>
              </a:defRPr>
            </a:pPr>
            <a:r>
              <a:rPr sz="1200" b="0">
                <a:solidFill>
                  <a:srgbClr val="15171A"/>
                </a:solidFill>
              </a:rPr>
              <a:t>Cobertura: parsers, controladores, SQLite, CRUD, cascada, errores y concurrencia.</a:t>
            </a:r>
          </a:p>
        </p:txBody>
      </p:sp>
      <p:sp>
        <p:nvSpPr>
          <p:cNvPr id="13" name="">
            <a:extLst xmlns:a="http://schemas.openxmlformats.org/drawingml/2006/main">
              <a:ext uri="{FF2B5EF4-FFF2-40B4-BE49-F238E27FC236}">
                <a16:creationId xmlns:a16="http://schemas.microsoft.com/office/drawing/2014/main" id="{3F2E8FA7-4C3E-47CA-875B-A0B4E58BC4CB}"/>
              </a:ext>
            </a:extLst>
          </p:cNvPr>
          <p:cNvSpPr>
            <a:spLocks xmlns:a="http://schemas.openxmlformats.org/drawingml/2006/main" noGrp="1"/>
          </p:cNvSpPr>
          <p:nvPr/>
        </p:nvSpPr>
        <p:spPr>
          <a:xfrm xmlns:a="http://schemas.openxmlformats.org/drawingml/2006/main">
            <a:off x="5886450" y="15240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75" b="1">
                <a:solidFill>
                  <a:srgbClr val="177A58"/>
                </a:solidFill>
              </a:defRPr>
            </a:pPr>
            <a:r>
              <a:rPr sz="1875" b="1">
                <a:solidFill>
                  <a:srgbClr val="177A58"/>
                </a:solidFill>
              </a:rPr>
              <a:t>Ubuntu · clonación limpia</a:t>
            </a:r>
          </a:p>
        </p:txBody>
      </p:sp>
      <p:sp>
        <p:nvSpPr>
          <p:cNvPr id="14" name="">
            <a:extLst xmlns:a="http://schemas.openxmlformats.org/drawingml/2006/main">
              <a:ext uri="{FF2B5EF4-FFF2-40B4-BE49-F238E27FC236}">
                <a16:creationId xmlns:a16="http://schemas.microsoft.com/office/drawing/2014/main" id="{7FC723CC-838E-4F76-99C0-FD1105B4CB61}"/>
              </a:ext>
            </a:extLst>
          </p:cNvPr>
          <p:cNvSpPr>
            <a:spLocks xmlns:a="http://schemas.openxmlformats.org/drawingml/2006/main" noGrp="1"/>
          </p:cNvSpPr>
          <p:nvPr/>
        </p:nvSpPr>
        <p:spPr>
          <a:xfrm xmlns:a="http://schemas.openxmlformats.org/drawingml/2006/main">
            <a:off x="5886450" y="188595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1">
                <a:solidFill>
                  <a:srgbClr val="5F6670"/>
                </a:solidFill>
              </a:defRPr>
            </a:pPr>
            <a:r>
              <a:rPr sz="1275" b="1">
                <a:solidFill>
                  <a:srgbClr val="5F6670"/>
                </a:solidFill>
              </a:rPr>
              <a:t>Validación funcional manual</a:t>
            </a:r>
          </a:p>
        </p:txBody>
      </p:sp>
      <p:sp>
        <p:nvSpPr>
          <p:cNvPr id="15" name="">
            <a:extLst xmlns:a="http://schemas.openxmlformats.org/drawingml/2006/main">
              <a:ext uri="{FF2B5EF4-FFF2-40B4-BE49-F238E27FC236}">
                <a16:creationId xmlns:a16="http://schemas.microsoft.com/office/drawing/2014/main" id="{ABD4F200-7361-4D10-8582-5BC07129426D}"/>
              </a:ext>
            </a:extLst>
          </p:cNvPr>
          <p:cNvSpPr>
            <a:spLocks xmlns:a="http://schemas.openxmlformats.org/drawingml/2006/main" noGrp="1"/>
          </p:cNvSpPr>
          <p:nvPr/>
        </p:nvSpPr>
        <p:spPr>
          <a:xfrm xmlns:a="http://schemas.openxmlformats.org/drawingml/2006/main">
            <a:off x="5886450" y="2266950"/>
            <a:ext cx="5810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15171A"/>
                </a:solidFill>
              </a:defRPr>
            </a:pPr>
            <a:r>
              <a:rPr sz="1275" b="0">
                <a:solidFill>
                  <a:srgbClr val="15171A"/>
                </a:solidFill>
              </a:rPr>
              <a:t>• Menú completo: opciones 1 a 9</a:t>
            </a:r>
          </a:p>
          <a:p xmlns:a="http://schemas.openxmlformats.org/drawingml/2006/main">
            <a:pPr algn="l">
              <a:buNone/>
              <a:defRPr sz="1275" b="0">
                <a:solidFill>
                  <a:srgbClr val="15171A"/>
                </a:solidFill>
              </a:defRPr>
            </a:pPr>
            <a:r>
              <a:rPr sz="1275" b="0">
                <a:solidFill>
                  <a:srgbClr val="15171A"/>
                </a:solidFill>
              </a:rPr>
              <a:t>• Seis módulos con datos reales</a:t>
            </a:r>
          </a:p>
          <a:p xmlns:a="http://schemas.openxmlformats.org/drawingml/2006/main">
            <a:pPr algn="l">
              <a:buNone/>
              <a:defRPr sz="1275" b="0">
                <a:solidFill>
                  <a:srgbClr val="15171A"/>
                </a:solidFill>
              </a:defRPr>
            </a:pPr>
            <a:r>
              <a:rPr sz="1275" b="0">
                <a:solidFill>
                  <a:srgbClr val="15171A"/>
                </a:solidFill>
              </a:rPr>
              <a:t>• CRUD: registro, orden ascendente, edición, eliminación y filtro</a:t>
            </a:r>
          </a:p>
          <a:p xmlns:a="http://schemas.openxmlformats.org/drawingml/2006/main">
            <a:pPr algn="l">
              <a:buNone/>
              <a:defRPr sz="1275" b="0">
                <a:solidFill>
                  <a:srgbClr val="15171A"/>
                </a:solidFill>
              </a:defRPr>
            </a:pPr>
            <a:r>
              <a:rPr sz="1275" b="0">
                <a:solidFill>
                  <a:srgbClr val="15171A"/>
                </a:solidFill>
              </a:rPr>
              <a:t>• Concurrencia: 6 hilos, 0 errores, proceso hijo y salida 0</a:t>
            </a:r>
          </a:p>
        </p:txBody>
      </p:sp>
      <p:sp>
        <p:nvSpPr>
          <p:cNvPr id="16" name="">
            <a:extLst xmlns:a="http://schemas.openxmlformats.org/drawingml/2006/main">
              <a:ext uri="{FF2B5EF4-FFF2-40B4-BE49-F238E27FC236}">
                <a16:creationId xmlns:a16="http://schemas.microsoft.com/office/drawing/2014/main" id="{C8AFFF22-5DF4-4650-BC71-4A5BE7B349F4}"/>
              </a:ext>
            </a:extLst>
          </p:cNvPr>
          <p:cNvSpPr>
            <a:spLocks xmlns:a="http://schemas.openxmlformats.org/drawingml/2006/main" noGrp="1"/>
          </p:cNvSpPr>
          <p:nvPr/>
        </p:nvSpPr>
        <p:spPr>
          <a:xfrm xmlns:a="http://schemas.openxmlformats.org/drawingml/2006/main">
            <a:off x="5886450" y="3733800"/>
            <a:ext cx="2838450" cy="1952625"/>
          </a:xfrm>
          <a:prstGeom xmlns:a="http://schemas.openxmlformats.org/drawingml/2006/main" prst="roundRect">
            <a:avLst>
              <a:gd name="adj" fmla="val 3902"/>
            </a:avLst>
          </a:prstGeom>
          <a:solidFill xmlns:a="http://schemas.openxmlformats.org/drawingml/2006/main">
            <a:srgbClr val="300A24"/>
          </a:solidFill>
          <a:ln xmlns:a="http://schemas.openxmlformats.org/drawingml/2006/main" w="9525">
            <a:solidFill>
              <a:srgbClr val="300A24"/>
            </a:solidFill>
            <a:prstDash val="solid"/>
          </a:ln>
        </p:spPr>
      </p:sp>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2e61099ac30e41f1"/>
          <a:stretch xmlns:a="http://schemas.openxmlformats.org/drawingml/2006/main"/>
        </p:blipFill>
        <p:spPr>
          <a:xfrm xmlns:a="http://schemas.openxmlformats.org/drawingml/2006/main">
            <a:off x="6450066" y="3810000"/>
            <a:ext cx="1711219" cy="1800225"/>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E57E3A41-4B08-4B09-BB02-75493BD74FE1}"/>
              </a:ext>
            </a:extLst>
          </p:cNvPr>
          <p:cNvSpPr>
            <a:spLocks xmlns:a="http://schemas.openxmlformats.org/drawingml/2006/main" noGrp="1"/>
          </p:cNvSpPr>
          <p:nvPr/>
        </p:nvSpPr>
        <p:spPr>
          <a:xfrm xmlns:a="http://schemas.openxmlformats.org/drawingml/2006/main">
            <a:off x="8858250" y="3733800"/>
            <a:ext cx="2838450" cy="1952625"/>
          </a:xfrm>
          <a:prstGeom xmlns:a="http://schemas.openxmlformats.org/drawingml/2006/main" prst="roundRect">
            <a:avLst>
              <a:gd name="adj" fmla="val 3902"/>
            </a:avLst>
          </a:prstGeom>
          <a:solidFill xmlns:a="http://schemas.openxmlformats.org/drawingml/2006/main">
            <a:srgbClr val="300A24"/>
          </a:solidFill>
          <a:ln xmlns:a="http://schemas.openxmlformats.org/drawingml/2006/main" w="9525">
            <a:solidFill>
              <a:srgbClr val="300A24"/>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8ef96228e6e04cd2"/>
          <a:stretch xmlns:a="http://schemas.openxmlformats.org/drawingml/2006/main"/>
        </p:blipFill>
        <p:spPr>
          <a:xfrm xmlns:a="http://schemas.openxmlformats.org/drawingml/2006/main">
            <a:off x="8948840" y="3810000"/>
            <a:ext cx="2657270" cy="1800225"/>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A87DF4E8-2E79-4A8A-B28B-45A5EC752FEF}"/>
              </a:ext>
            </a:extLst>
          </p:cNvPr>
          <p:cNvSpPr>
            <a:spLocks xmlns:a="http://schemas.openxmlformats.org/drawingml/2006/main" noGrp="1"/>
          </p:cNvSpPr>
          <p:nvPr/>
        </p:nvSpPr>
        <p:spPr>
          <a:xfrm xmlns:a="http://schemas.openxmlformats.org/drawingml/2006/main">
            <a:off x="5886450" y="5876925"/>
            <a:ext cx="5810250" cy="400050"/>
          </a:xfrm>
          <a:prstGeom xmlns:a="http://schemas.openxmlformats.org/drawingml/2006/main" prst="rect">
            <a:avLst/>
          </a:prstGeom>
          <a:solidFill xmlns:a="http://schemas.openxmlformats.org/drawingml/2006/main">
            <a:srgbClr val="177A5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AD3677-1599-4491-BB8B-D28837D0A75B}"/>
              </a:ext>
            </a:extLst>
          </p:cNvPr>
          <p:cNvSpPr>
            <a:spLocks xmlns:a="http://schemas.openxmlformats.org/drawingml/2006/main" noGrp="1"/>
          </p:cNvSpPr>
          <p:nvPr/>
        </p:nvSpPr>
        <p:spPr>
          <a:xfrm xmlns:a="http://schemas.openxmlformats.org/drawingml/2006/main">
            <a:off x="6057900" y="5972175"/>
            <a:ext cx="5467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FFFFFF"/>
                </a:solidFill>
              </a:defRPr>
            </a:pPr>
            <a:r>
              <a:rPr sz="1200" b="1">
                <a:solidFill>
                  <a:srgbClr val="FFFFFF"/>
                </a:solidFill>
              </a:rPr>
              <a:t>Resultado: monitoreo + concurrencia + persistencia operativos en Linux.</a:t>
            </a:r>
          </a:p>
        </p:txBody>
      </p:sp>
      <p:sp>
        <p:nvSpPr>
          <p:cNvPr id="22" name="">
            <a:extLst xmlns:a="http://schemas.openxmlformats.org/drawingml/2006/main">
              <a:ext uri="{FF2B5EF4-FFF2-40B4-BE49-F238E27FC236}">
                <a16:creationId xmlns:a16="http://schemas.microsoft.com/office/drawing/2014/main" id="{B8412CB5-1D11-4716-81BC-34190C2EE91E}"/>
              </a:ext>
            </a:extLst>
          </p:cNvPr>
          <p:cNvSpPr>
            <a:spLocks xmlns:a="http://schemas.openxmlformats.org/drawingml/2006/main" noGrp="1"/>
          </p:cNvSpPr>
          <p:nvPr/>
        </p:nvSpPr>
        <p:spPr>
          <a:xfrm xmlns:a="http://schemas.openxmlformats.org/drawingml/2006/main">
            <a:off x="4953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750" b="0">
                <a:solidFill>
                  <a:srgbClr val="5F6670"/>
                </a:solidFill>
              </a:defRPr>
            </a:pPr>
            <a:r>
              <a:rPr sz="750" b="0">
                <a:solidFill>
                  <a:srgbClr val="5F6670"/>
                </a:solidFill>
              </a:rPr>
              <a:t>Linux Resource Monitor  |  ESPE</a:t>
            </a:r>
          </a:p>
        </p:txBody>
      </p:sp>
      <p:sp>
        <p:nvSpPr>
          <p:cNvPr id="23" name="">
            <a:extLst xmlns:a="http://schemas.openxmlformats.org/drawingml/2006/main">
              <a:ext uri="{FF2B5EF4-FFF2-40B4-BE49-F238E27FC236}">
                <a16:creationId xmlns:a16="http://schemas.microsoft.com/office/drawing/2014/main" id="{AC4AA6DC-56AA-4492-BF88-A7F7AD8721C4}"/>
              </a:ext>
            </a:extLst>
          </p:cNvPr>
          <p:cNvSpPr>
            <a:spLocks xmlns:a="http://schemas.openxmlformats.org/drawingml/2006/main" noGrp="1"/>
          </p:cNvSpPr>
          <p:nvPr/>
        </p:nvSpPr>
        <p:spPr>
          <a:xfrm xmlns:a="http://schemas.openxmlformats.org/drawingml/2006/main">
            <a:off x="10763250" y="6515100"/>
            <a:ext cx="933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750" b="0">
                <a:solidFill>
                  <a:srgbClr val="5F6670"/>
                </a:solidFill>
              </a:defRPr>
            </a:pPr>
            <a:r>
              <a:rPr sz="750" b="0">
                <a:solidFill>
                  <a:srgbClr val="5F6670"/>
                </a:solidFill>
              </a:rPr>
              <a:t>7 / 7</a:t>
            </a:r>
          </a:p>
        </p:txBody>
      </p:sp>
    </p:spTree>
    <p:extLst>
      <p:ext uri="{BB962C8B-B14F-4D97-AF65-F5344CB8AC3E}">
        <p14:creationId xmlns:p14="http://schemas.microsoft.com/office/powerpoint/2010/main" val="8037612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2026-07-27T16:59:49.5310000Z</dcterms:created>
  <dcterms:modified xsi:type="dcterms:W3CDTF">2026-07-27T16:59:49.5310000Z</dcterms:modified>
</coreProperties>
</file>